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hq5uO1+L1TxFxNKTx8RabIFmdP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customschemas.google.com/relationships/presentationmetadata" Target="meta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3" name="Google Shape;9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0" name="Google Shape;18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4F5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8686800" y="-2286000"/>
            <a:ext cx="6400800" cy="6400800"/>
          </a:xfrm>
          <a:prstGeom prst="ellipse">
            <a:avLst/>
          </a:prstGeom>
          <a:solidFill>
            <a:srgbClr val="0F6D7A">
              <a:alpha val="6000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-1828800" y="4572000"/>
            <a:ext cx="5486400" cy="5486400"/>
          </a:xfrm>
          <a:prstGeom prst="ellipse">
            <a:avLst/>
          </a:prstGeom>
          <a:solidFill>
            <a:srgbClr val="14919B">
              <a:alpha val="4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1400"/>
              <a:buFont typeface="Calibri"/>
              <a:buNone/>
            </a:pPr>
            <a:r>
              <a:rPr b="1" lang="es-CL" sz="14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PROYECTO APT · CAPSTONE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777240" y="2331720"/>
            <a:ext cx="9144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lang="es-CL" sz="6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KineTrack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822960" y="35204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DEC"/>
              </a:buClr>
              <a:buSzPts val="2400"/>
              <a:buFont typeface="Calibri"/>
              <a:buNone/>
            </a:pPr>
            <a:r>
              <a:rPr lang="es-CL" sz="2400">
                <a:solidFill>
                  <a:srgbClr val="CFEDEC"/>
                </a:solidFill>
                <a:latin typeface="Calibri"/>
                <a:ea typeface="Calibri"/>
                <a:cs typeface="Calibri"/>
                <a:sym typeface="Calibri"/>
              </a:rPr>
              <a:t>Plataforma web para la gestión activa de tratamientos kinesiológicos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822960" y="51206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Cliente: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822960" y="5440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Clínica Los Andes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4754880" y="512064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Presentado por: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4754880" y="544068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Cristóbal Retamal · Benjamín Sepúlveda · Benjamín Contreras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82296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1417320" y="169164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¿Para quién?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 txBox="1"/>
          <p:nvPr/>
        </p:nvSpPr>
        <p:spPr>
          <a:xfrm>
            <a:off x="868680" y="228600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Clínica Los Andes ya que cuenta con varios profesionales: Kinesiólogos, Coordinación, Pacientes y Administrador.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6263640" y="141732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 txBox="1"/>
          <p:nvPr/>
        </p:nvSpPr>
        <p:spPr>
          <a:xfrm>
            <a:off x="7132320" y="169164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¿Qué es?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6583680" y="228600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Una plataforma web, con diseño responsive para uso móvil, de gestión activa del proceso de rehabilitación.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417320" y="406908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¿Qué hará?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868680" y="459486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Centralizará el registro de pacientes, planes de ejercicio, sesiones de control y un sistema de Alertas de Seguimiento con escalamiento automático.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263640" y="3794760"/>
            <a:ext cx="5394960" cy="2148840"/>
          </a:xfrm>
          <a:prstGeom prst="roundRect">
            <a:avLst>
              <a:gd fmla="val 510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1F3A3D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537960" y="4069080"/>
            <a:ext cx="457200" cy="457200"/>
          </a:xfrm>
          <a:prstGeom prst="ellipse">
            <a:avLst/>
          </a:prstGeom>
          <a:solidFill>
            <a:srgbClr val="14919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653796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 txBox="1"/>
          <p:nvPr/>
        </p:nvSpPr>
        <p:spPr>
          <a:xfrm>
            <a:off x="7132320" y="406908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¿Para qué?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 txBox="1"/>
          <p:nvPr/>
        </p:nvSpPr>
        <p:spPr>
          <a:xfrm>
            <a:off x="6583680" y="4663440"/>
            <a:ext cx="47548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900"/>
              <a:buFont typeface="Calibri"/>
              <a:buNone/>
            </a:pPr>
            <a:r>
              <a:rPr lang="es-CL" sz="19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Reducir el abandono terapéutico, asegurando que ninguna molestia o período de inactividad quede sin seguimiento.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Problemática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548640" y="1463040"/>
            <a:ext cx="6492240" cy="4709160"/>
          </a:xfrm>
          <a:prstGeom prst="roundRect">
            <a:avLst>
              <a:gd fmla="val 233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 txBox="1"/>
          <p:nvPr/>
        </p:nvSpPr>
        <p:spPr>
          <a:xfrm>
            <a:off x="925750" y="1971426"/>
            <a:ext cx="5852100" cy="36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Los ejercicios domiciliarios se entregan impresos en papel, sin visibilidad real para el kinesiólogo sobre si el paciente los realiza.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No es solo un problema de organización: es de adherencia conductual. El paciente suele volver meses después con los mismos dolores.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En centros con más de un profesional, la falta de un sistema centralizado impide que Coordinación vea el estado de toda la cartera de pacientes.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Las molestias o períodos de inactividad no se detectan a tiempo, lo que deriva en altas tasas de abandono del tratamiento.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1F3A3D"/>
              </a:buClr>
              <a:buSzPts val="1600"/>
              <a:buFont typeface="Calibri"/>
              <a:buAutoNum type="arabicPeriod"/>
            </a:pPr>
            <a:r>
              <a:rPr lang="es-CL" sz="16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No existe información agregada que permita identificar patrones de abandono por tipo de diagnóstico.</a:t>
            </a:r>
            <a:endParaRPr sz="1450">
              <a:solidFill>
                <a:srgbClr val="1F3A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7315200" y="1463040"/>
            <a:ext cx="4343400" cy="4709160"/>
          </a:xfrm>
          <a:prstGeom prst="roundRect">
            <a:avLst>
              <a:gd fmla="val 2526" name="adj"/>
            </a:avLst>
          </a:prstGeom>
          <a:solidFill>
            <a:srgbClr val="0F6D7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patient_white.png" id="58" name="Google Shape;5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52560" y="192024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 txBox="1"/>
          <p:nvPr/>
        </p:nvSpPr>
        <p:spPr>
          <a:xfrm>
            <a:off x="7680960" y="2971800"/>
            <a:ext cx="3429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s-CL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Personas de mayor edad, para quienes la tecnología puede ser una barrera si no está bien diseñada.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oord_white.png" id="60" name="Google Shape;6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2560" y="43434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3"/>
          <p:cNvSpPr txBox="1"/>
          <p:nvPr/>
        </p:nvSpPr>
        <p:spPr>
          <a:xfrm>
            <a:off x="7680960" y="5349240"/>
            <a:ext cx="3429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s-CL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Coordinación sin visibilidad agregada del estado de sus pacientes.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KineTrack — Proyecto APT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54864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139446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doctor.png" id="72" name="Google Shape;7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20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4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4 Perfiles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73152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Paciente, Kinesiólogo, Coordinación y Administrador, cada uno con su flujo dentro de la plataforma.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333756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418338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bell.png" id="77" name="Google Shape;7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912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4"/>
          <p:cNvSpPr txBox="1"/>
          <p:nvPr/>
        </p:nvSpPr>
        <p:spPr>
          <a:xfrm>
            <a:off x="352044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Alertas de Seguimiento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 txBox="1"/>
          <p:nvPr/>
        </p:nvSpPr>
        <p:spPr>
          <a:xfrm>
            <a:off x="352044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Notificación inmediata por molestia (EVA) o inactividad, con escalamiento automático a Coordinación.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612648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230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amera.png" id="82" name="Google Shape;82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7804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4"/>
          <p:cNvSpPr txBox="1"/>
          <p:nvPr/>
        </p:nvSpPr>
        <p:spPr>
          <a:xfrm>
            <a:off x="630936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Visión Computacional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 txBox="1"/>
          <p:nvPr/>
        </p:nvSpPr>
        <p:spPr>
          <a:xfrm>
            <a:off x="630936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MediaPipe procesado on-device: referencia visual del movimiento, sin almacenar video del paciente.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8915400" y="1554480"/>
            <a:ext cx="2606040" cy="448056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9761220" y="1874520"/>
            <a:ext cx="914400" cy="914400"/>
          </a:xfrm>
          <a:prstGeom prst="ellipse">
            <a:avLst/>
          </a:prstGeom>
          <a:solidFill>
            <a:srgbClr val="FBE3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hart.png" id="87" name="Google Shape;8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66960" y="210312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4"/>
          <p:cNvSpPr txBox="1"/>
          <p:nvPr/>
        </p:nvSpPr>
        <p:spPr>
          <a:xfrm>
            <a:off x="9098280" y="297180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Dashboard Analítico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 txBox="1"/>
          <p:nvPr/>
        </p:nvSpPr>
        <p:spPr>
          <a:xfrm>
            <a:off x="9098280" y="35661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Reportería de adherencia y abandono por tipo de diagnóstico, para apoyar decisiones de gestión.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F6D7A">
              <a:alpha val="5490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4919B">
              <a:alpha val="4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2423160" y="12801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2600"/>
              <a:buFont typeface="Calibri"/>
              <a:buNone/>
            </a:pPr>
            <a:r>
              <a:rPr b="1" lang="es-CL" sz="2600">
                <a:solidFill>
                  <a:srgbClr val="E8785A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lang="es-CL"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Diseñar e implementar una plataforma web, con diseño responsivo para uso móvil, que permita gestionar de forma activa los tratamientos kinesiológicos de centros </a:t>
            </a:r>
            <a:r>
              <a:rPr lang="es-CL"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clínicos</a:t>
            </a:r>
            <a:r>
              <a:rPr lang="es-CL" sz="2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, incorporando alertas de seguimiento ante molestias e inactividad, con escalamiento automático, y una referencia visual de movimiento como apoyo al criterio clínico del profesional.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 txBox="1"/>
          <p:nvPr/>
        </p:nvSpPr>
        <p:spPr>
          <a:xfrm>
            <a:off x="10332720" y="50292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6"/>
          <p:cNvGrpSpPr/>
          <p:nvPr/>
        </p:nvGrpSpPr>
        <p:grpSpPr>
          <a:xfrm>
            <a:off x="1552660" y="1452895"/>
            <a:ext cx="3337560" cy="2351922"/>
            <a:chOff x="8321040" y="1645920"/>
            <a:chExt cx="3337560" cy="2351922"/>
          </a:xfrm>
        </p:grpSpPr>
        <p:sp>
          <p:nvSpPr>
            <p:cNvPr id="109" name="Google Shape;109;p6"/>
            <p:cNvSpPr/>
            <p:nvPr/>
          </p:nvSpPr>
          <p:spPr>
            <a:xfrm>
              <a:off x="8321040" y="1645920"/>
              <a:ext cx="3337560" cy="2351922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6"/>
            <p:cNvSpPr/>
            <p:nvPr/>
          </p:nvSpPr>
          <p:spPr>
            <a:xfrm>
              <a:off x="8503920" y="1874520"/>
              <a:ext cx="502920" cy="502920"/>
            </a:xfrm>
            <a:prstGeom prst="ellipse">
              <a:avLst/>
            </a:prstGeom>
            <a:solidFill>
              <a:srgbClr val="14919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6"/>
            <p:cNvSpPr txBox="1"/>
            <p:nvPr/>
          </p:nvSpPr>
          <p:spPr>
            <a:xfrm>
              <a:off x="8503920" y="1874520"/>
              <a:ext cx="50292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rPr b="1" lang="es-CL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6"/>
            <p:cNvSpPr txBox="1"/>
            <p:nvPr/>
          </p:nvSpPr>
          <p:spPr>
            <a:xfrm>
              <a:off x="9144000" y="1828800"/>
              <a:ext cx="233172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785A"/>
                </a:buClr>
                <a:buSzPts val="2600"/>
                <a:buFont typeface="Cambria"/>
                <a:buNone/>
              </a:pPr>
              <a:r>
                <a:rPr b="1" lang="es-CL" sz="2600">
                  <a:solidFill>
                    <a:srgbClr val="E8785A"/>
                  </a:solidFill>
                  <a:latin typeface="Cambria"/>
                  <a:ea typeface="Cambria"/>
                  <a:cs typeface="Cambria"/>
                  <a:sym typeface="Cambria"/>
                </a:rPr>
                <a:t>85%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6"/>
            <p:cNvSpPr txBox="1"/>
            <p:nvPr/>
          </p:nvSpPr>
          <p:spPr>
            <a:xfrm>
              <a:off x="8549640" y="2606040"/>
              <a:ext cx="2880360" cy="13918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F3A3D"/>
                </a:buClr>
                <a:buSzPts val="1400"/>
                <a:buFont typeface="Calibri"/>
                <a:buNone/>
              </a:pPr>
              <a:r>
                <a:rPr lang="es-CL" sz="1400">
                  <a:solidFill>
                    <a:srgbClr val="1F3A3D"/>
                  </a:solidFill>
                  <a:latin typeface="Calibri"/>
                  <a:ea typeface="Calibri"/>
                  <a:cs typeface="Calibri"/>
                  <a:sym typeface="Calibri"/>
                </a:rPr>
                <a:t>Lograr que al menos el 85% de los pacientes activos cuenten con registro de cumplimiento y evolución consistente dentro de los primeros 3 meses de implementada la solución.</a:t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6"/>
          <p:cNvSpPr txBox="1"/>
          <p:nvPr/>
        </p:nvSpPr>
        <p:spPr>
          <a:xfrm>
            <a:off x="8477260" y="6344935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5" name="Google Shape;115;p6"/>
          <p:cNvGrpSpPr/>
          <p:nvPr/>
        </p:nvGrpSpPr>
        <p:grpSpPr>
          <a:xfrm>
            <a:off x="1628862" y="4080846"/>
            <a:ext cx="3337560" cy="2192433"/>
            <a:chOff x="4968242" y="4273871"/>
            <a:chExt cx="3337560" cy="2192433"/>
          </a:xfrm>
        </p:grpSpPr>
        <p:sp>
          <p:nvSpPr>
            <p:cNvPr id="116" name="Google Shape;116;p6"/>
            <p:cNvSpPr/>
            <p:nvPr/>
          </p:nvSpPr>
          <p:spPr>
            <a:xfrm>
              <a:off x="4968242" y="4273871"/>
              <a:ext cx="3337560" cy="2192433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7" name="Google Shape;117;p6"/>
            <p:cNvGrpSpPr/>
            <p:nvPr/>
          </p:nvGrpSpPr>
          <p:grpSpPr>
            <a:xfrm>
              <a:off x="5151122" y="4456751"/>
              <a:ext cx="2971800" cy="1860698"/>
              <a:chOff x="731520" y="1828800"/>
              <a:chExt cx="2971800" cy="1860698"/>
            </a:xfrm>
          </p:grpSpPr>
          <p:sp>
            <p:nvSpPr>
              <p:cNvPr id="118" name="Google Shape;118;p6"/>
              <p:cNvSpPr/>
              <p:nvPr/>
            </p:nvSpPr>
            <p:spPr>
              <a:xfrm>
                <a:off x="731520" y="1874520"/>
                <a:ext cx="502920" cy="502920"/>
              </a:xfrm>
              <a:prstGeom prst="ellipse">
                <a:avLst/>
              </a:prstGeom>
              <a:solidFill>
                <a:srgbClr val="14919B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6"/>
              <p:cNvSpPr txBox="1"/>
              <p:nvPr/>
            </p:nvSpPr>
            <p:spPr>
              <a:xfrm>
                <a:off x="731520" y="1874520"/>
                <a:ext cx="502920" cy="502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800"/>
                  <a:buFont typeface="Calibri"/>
                  <a:buNone/>
                </a:pPr>
                <a:r>
                  <a:rPr b="1" lang="es-CL"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6"/>
              <p:cNvSpPr txBox="1"/>
              <p:nvPr/>
            </p:nvSpPr>
            <p:spPr>
              <a:xfrm>
                <a:off x="1371600" y="1828800"/>
                <a:ext cx="2331720" cy="594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E8785A"/>
                  </a:buClr>
                  <a:buSzPts val="2600"/>
                  <a:buFont typeface="Cambria"/>
                  <a:buNone/>
                </a:pPr>
                <a:r>
                  <a:rPr b="1" lang="es-CL" sz="2600">
                    <a:solidFill>
                      <a:srgbClr val="E8785A"/>
                    </a:solidFill>
                    <a:latin typeface="Cambria"/>
                    <a:ea typeface="Cambria"/>
                    <a:cs typeface="Cambria"/>
                    <a:sym typeface="Cambria"/>
                  </a:rPr>
                  <a:t>90%</a:t>
                </a:r>
                <a:endParaRPr sz="26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1" name="Google Shape;121;p6"/>
              <p:cNvSpPr txBox="1"/>
              <p:nvPr/>
            </p:nvSpPr>
            <p:spPr>
              <a:xfrm>
                <a:off x="777240" y="2606040"/>
                <a:ext cx="2880360" cy="1083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1F3A3D"/>
                  </a:buClr>
                  <a:buSzPts val="1400"/>
                  <a:buFont typeface="Calibri"/>
                  <a:buNone/>
                </a:pPr>
                <a:r>
                  <a:rPr lang="es-CL" sz="1400">
                    <a:solidFill>
                      <a:srgbClr val="1F3A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Cerrar formalmente (alta, abandono o derivación) al menos el 90% de los tratamientos finalizados dentro del período de evaluación de 3 meses.</a:t>
                </a: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2" name="Google Shape;122;p6"/>
          <p:cNvGrpSpPr/>
          <p:nvPr/>
        </p:nvGrpSpPr>
        <p:grpSpPr>
          <a:xfrm>
            <a:off x="7426315" y="1452895"/>
            <a:ext cx="3337560" cy="2362554"/>
            <a:chOff x="4434840" y="1645920"/>
            <a:chExt cx="3337560" cy="2362554"/>
          </a:xfrm>
        </p:grpSpPr>
        <p:sp>
          <p:nvSpPr>
            <p:cNvPr id="123" name="Google Shape;123;p6"/>
            <p:cNvSpPr/>
            <p:nvPr/>
          </p:nvSpPr>
          <p:spPr>
            <a:xfrm>
              <a:off x="4434840" y="1645920"/>
              <a:ext cx="3337560" cy="2362554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6"/>
            <p:cNvSpPr/>
            <p:nvPr/>
          </p:nvSpPr>
          <p:spPr>
            <a:xfrm>
              <a:off x="4617720" y="1874520"/>
              <a:ext cx="502920" cy="502920"/>
            </a:xfrm>
            <a:prstGeom prst="ellipse">
              <a:avLst/>
            </a:prstGeom>
            <a:solidFill>
              <a:srgbClr val="14919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6"/>
            <p:cNvSpPr txBox="1"/>
            <p:nvPr/>
          </p:nvSpPr>
          <p:spPr>
            <a:xfrm>
              <a:off x="4617720" y="1874520"/>
              <a:ext cx="50292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rPr b="1" lang="es-CL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6"/>
            <p:cNvSpPr txBox="1"/>
            <p:nvPr/>
          </p:nvSpPr>
          <p:spPr>
            <a:xfrm>
              <a:off x="5257800" y="1828800"/>
              <a:ext cx="233172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785A"/>
                </a:buClr>
                <a:buSzPts val="2600"/>
                <a:buFont typeface="Cambria"/>
                <a:buNone/>
              </a:pPr>
              <a:r>
                <a:rPr b="1" lang="es-CL" sz="2600">
                  <a:solidFill>
                    <a:srgbClr val="E8785A"/>
                  </a:solidFill>
                  <a:latin typeface="Cambria"/>
                  <a:ea typeface="Cambria"/>
                  <a:cs typeface="Cambria"/>
                  <a:sym typeface="Cambria"/>
                </a:rPr>
                <a:t>90%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6"/>
            <p:cNvSpPr txBox="1"/>
            <p:nvPr/>
          </p:nvSpPr>
          <p:spPr>
            <a:xfrm>
              <a:off x="4663440" y="2606040"/>
              <a:ext cx="2880360" cy="13173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F3A3D"/>
                </a:buClr>
                <a:buSzPts val="1400"/>
                <a:buFont typeface="Calibri"/>
                <a:buNone/>
              </a:pPr>
              <a:r>
                <a:rPr lang="es-CL" sz="1400">
                  <a:solidFill>
                    <a:srgbClr val="1F3A3D"/>
                  </a:solidFill>
                  <a:latin typeface="Calibri"/>
                  <a:ea typeface="Calibri"/>
                  <a:cs typeface="Calibri"/>
                  <a:sym typeface="Calibri"/>
                </a:rPr>
                <a:t>Capacitar a los kinesiólogos y lograr que al menos el 90% completen el flujo de asignación de plan, antes del uso regular.</a:t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6"/>
          <p:cNvGrpSpPr/>
          <p:nvPr/>
        </p:nvGrpSpPr>
        <p:grpSpPr>
          <a:xfrm>
            <a:off x="7426315" y="3982381"/>
            <a:ext cx="3337560" cy="2362554"/>
            <a:chOff x="8321040" y="1645920"/>
            <a:chExt cx="3337560" cy="2362554"/>
          </a:xfrm>
        </p:grpSpPr>
        <p:sp>
          <p:nvSpPr>
            <p:cNvPr id="129" name="Google Shape;129;p6"/>
            <p:cNvSpPr/>
            <p:nvPr/>
          </p:nvSpPr>
          <p:spPr>
            <a:xfrm>
              <a:off x="8321040" y="1645920"/>
              <a:ext cx="3337560" cy="2362554"/>
            </a:xfrm>
            <a:prstGeom prst="roundRect">
              <a:avLst>
                <a:gd fmla="val 3288" name="adj"/>
              </a:avLst>
            </a:prstGeom>
            <a:solidFill>
              <a:srgbClr val="FFFFFF"/>
            </a:solidFill>
            <a:ln>
              <a:noFill/>
            </a:ln>
            <a:effectLst>
              <a:outerShdw blurRad="63500" rotWithShape="0" algn="bl" dir="5400000" dist="25400">
                <a:srgbClr val="1F3A3D">
                  <a:alpha val="12157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6"/>
            <p:cNvSpPr/>
            <p:nvPr/>
          </p:nvSpPr>
          <p:spPr>
            <a:xfrm>
              <a:off x="8503920" y="1874520"/>
              <a:ext cx="502920" cy="502920"/>
            </a:xfrm>
            <a:prstGeom prst="ellipse">
              <a:avLst/>
            </a:prstGeom>
            <a:solidFill>
              <a:srgbClr val="14919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6"/>
            <p:cNvSpPr txBox="1"/>
            <p:nvPr/>
          </p:nvSpPr>
          <p:spPr>
            <a:xfrm>
              <a:off x="8503920" y="1874520"/>
              <a:ext cx="50292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alibri"/>
                <a:buNone/>
              </a:pPr>
              <a:r>
                <a:rPr b="1" lang="es-CL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" name="Google Shape;132;p6"/>
            <p:cNvSpPr txBox="1"/>
            <p:nvPr/>
          </p:nvSpPr>
          <p:spPr>
            <a:xfrm>
              <a:off x="9144000" y="1828800"/>
              <a:ext cx="233172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E8785A"/>
                </a:buClr>
                <a:buSzPts val="2600"/>
                <a:buFont typeface="Cambria"/>
                <a:buNone/>
              </a:pPr>
              <a:r>
                <a:rPr b="1" lang="es-CL" sz="2600">
                  <a:solidFill>
                    <a:srgbClr val="E8785A"/>
                  </a:solidFill>
                  <a:latin typeface="Cambria"/>
                  <a:ea typeface="Cambria"/>
                  <a:cs typeface="Cambria"/>
                  <a:sym typeface="Cambria"/>
                </a:rPr>
                <a:t>10 pac.</a:t>
              </a:r>
              <a:endPara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6"/>
            <p:cNvSpPr txBox="1"/>
            <p:nvPr/>
          </p:nvSpPr>
          <p:spPr>
            <a:xfrm>
              <a:off x="8549640" y="2606040"/>
              <a:ext cx="2880360" cy="140243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F3A3D"/>
                </a:buClr>
                <a:buSzPts val="1400"/>
                <a:buFont typeface="Calibri"/>
                <a:buNone/>
              </a:pPr>
              <a:r>
                <a:rPr lang="es-CL" sz="1400">
                  <a:solidFill>
                    <a:srgbClr val="1F3A3D"/>
                  </a:solidFill>
                  <a:latin typeface="Calibri"/>
                  <a:ea typeface="Calibri"/>
                  <a:cs typeface="Calibri"/>
                  <a:sym typeface="Calibri"/>
                </a:rPr>
                <a:t>Validar con al menos 10 pacientes durante el primer mes de piloto que la referencia visual de MediaPipe es percibida como útil de apoyo, sin atribuírsele valor diagnóstico.</a:t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Alcance y Limitaciones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548640" y="1508760"/>
            <a:ext cx="5394960" cy="4663440"/>
          </a:xfrm>
          <a:prstGeom prst="roundRect">
            <a:avLst>
              <a:gd fmla="val 235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 txBox="1"/>
          <p:nvPr/>
        </p:nvSpPr>
        <p:spPr>
          <a:xfrm>
            <a:off x="91440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 txBox="1"/>
          <p:nvPr/>
        </p:nvSpPr>
        <p:spPr>
          <a:xfrm>
            <a:off x="960120" y="2331720"/>
            <a:ext cx="475488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Cuatro perfiles: Paciente, Kinesiólogo, Coordinación y Administrador.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Flujo transaccional de Alertas de Seguimiento con escalamiento automático.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Componente de visión por computador (MediaPipe) como apoyo visual, no diagnóstico.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Dashboard analítico de adherencia y abandono por diagnóstico.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6263640" y="1508760"/>
            <a:ext cx="5394960" cy="4663440"/>
          </a:xfrm>
          <a:prstGeom prst="roundRect">
            <a:avLst>
              <a:gd fmla="val 2353" name="adj"/>
            </a:avLst>
          </a:prstGeom>
          <a:solidFill>
            <a:srgbClr val="0F6D7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662940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s-CL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6675120" y="2331720"/>
            <a:ext cx="475488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Tiempo restringido al semestre académico (aprox. 18 semanas).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No incluye videollamadas, app móvil nativa ni integración con wearables.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MediaPipe no reemplaza el criterio clínico del kinesiólogo, solo lo apoya.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Despliegue en infraestructura de nivel gratuito o académico, suficiente para el piloto del semestre.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2026034" y="2237622"/>
            <a:ext cx="810945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2400"/>
              <a:buFont typeface="Calibri"/>
              <a:buNone/>
            </a:pPr>
            <a:r>
              <a:rPr lang="es-CL" sz="24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Metodología ágil Scrum: desarrollo iterativo e incremental en sprints, priorizando el flujo transaccional central (registro, planes y alertas) y dejando un sprint temprano para validar el riesgo técnico de MediaPipe antes de comprometer el diseño final.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Tecnologías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react.png" id="162" name="Google Shape;16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1620" y="205740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9"/>
          <p:cNvSpPr txBox="1"/>
          <p:nvPr/>
        </p:nvSpPr>
        <p:spPr>
          <a:xfrm>
            <a:off x="731520" y="288036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731520" y="33375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Desarrollo del frontend web responsive.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3337560" y="173736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camera.png" id="166" name="Google Shape;16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20540" y="205740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9"/>
          <p:cNvSpPr txBox="1"/>
          <p:nvPr/>
        </p:nvSpPr>
        <p:spPr>
          <a:xfrm>
            <a:off x="3520440" y="288036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MediaPipe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3520440" y="33375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Visión computacional on-device (Edge AI).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6126480" y="173736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supabase.png" id="170" name="Google Shape;170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09460" y="205740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9"/>
          <p:cNvSpPr txBox="1"/>
          <p:nvPr/>
        </p:nvSpPr>
        <p:spPr>
          <a:xfrm>
            <a:off x="6309360" y="288036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2000"/>
              <a:buFont typeface="Calibri"/>
              <a:buNone/>
            </a:pPr>
            <a:r>
              <a:rPr b="1" lang="es-CL" sz="20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 txBox="1"/>
          <p:nvPr/>
        </p:nvSpPr>
        <p:spPr>
          <a:xfrm>
            <a:off x="6309360" y="33375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Backend as a Service: base de datos, autenticación y notificaciones en tiempo real.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8915400" y="1737360"/>
            <a:ext cx="2606040" cy="4114800"/>
          </a:xfrm>
          <a:prstGeom prst="roundRect">
            <a:avLst>
              <a:gd fmla="val 421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5400000" dist="25400">
              <a:srgbClr val="1F3A3D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ns/github.png" id="174" name="Google Shape;174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898380" y="205740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9"/>
          <p:cNvSpPr txBox="1"/>
          <p:nvPr/>
        </p:nvSpPr>
        <p:spPr>
          <a:xfrm>
            <a:off x="9098280" y="2880360"/>
            <a:ext cx="2240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1500"/>
              <a:buFont typeface="Calibri"/>
              <a:buNone/>
            </a:pPr>
            <a:r>
              <a:rPr b="1" lang="es-CL" sz="15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9098280" y="3337560"/>
            <a:ext cx="2240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3A3D"/>
              </a:buClr>
              <a:buSzPts val="1800"/>
              <a:buFont typeface="Calibri"/>
              <a:buNone/>
            </a:pPr>
            <a:r>
              <a:rPr lang="es-CL" sz="1800">
                <a:solidFill>
                  <a:srgbClr val="1F3A3D"/>
                </a:solidFill>
                <a:latin typeface="Calibri"/>
                <a:ea typeface="Calibri"/>
                <a:cs typeface="Calibri"/>
                <a:sym typeface="Calibri"/>
              </a:rPr>
              <a:t>Control de versiones y trabajo colaborativo del equipo.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FF4F3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6D7A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0F6D7A"/>
                </a:solidFill>
                <a:latin typeface="Calibri"/>
                <a:ea typeface="Calibri"/>
                <a:cs typeface="Calibri"/>
                <a:sym typeface="Calibri"/>
              </a:rPr>
              <a:t>Cronograma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8275" y="1188720"/>
            <a:ext cx="6935442" cy="536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0F6D7A">
              <a:alpha val="5490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lang="es-CL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Comentario Final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 txBox="1"/>
          <p:nvPr/>
        </p:nvSpPr>
        <p:spPr>
          <a:xfrm>
            <a:off x="822960" y="173736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KineTrack transforma un seguimiento hoy manual y disperso en un sistema centralizado, trazable y con alertas oportunas.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El sistema de escalamiento automático asegura que ninguna molestia o período de inactividad quede sin atención.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La visión computacional (MediaPipe) aporta valor como apoyo visual, sin reemplazar el criterio clínico del kinesiólogo ni comprometer la privacidad del paciente.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rgbClr val="F3FBFA"/>
                </a:solidFill>
                <a:latin typeface="Calibri"/>
                <a:ea typeface="Calibri"/>
                <a:cs typeface="Calibri"/>
                <a:sym typeface="Calibri"/>
              </a:rPr>
              <a:t>Los objetivos definidos permiten medir el impacto real del proyecto: tiempos de respuesta, adherencia y cierre de tratamientos.</a:t>
            </a:r>
            <a:endParaRPr sz="2000">
              <a:solidFill>
                <a:srgbClr val="F3FBF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3FBF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1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KineTrack — Proyecto APT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4F52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0F6D7A">
              <a:alpha val="5490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 txBox="1"/>
          <p:nvPr/>
        </p:nvSpPr>
        <p:spPr>
          <a:xfrm>
            <a:off x="548640" y="205740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Bookman Old Style"/>
              <a:buNone/>
            </a:pPr>
            <a:r>
              <a:rPr b="1" lang="es-CL" sz="4400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Muchas Gracias</a:t>
            </a:r>
            <a:endParaRPr sz="3200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02" name="Google Shape;202;p12"/>
          <p:cNvSpPr txBox="1"/>
          <p:nvPr/>
        </p:nvSpPr>
        <p:spPr>
          <a:xfrm>
            <a:off x="548640" y="297180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785A"/>
              </a:buClr>
              <a:buSzPts val="4000"/>
              <a:buFont typeface="Bookman Old Style"/>
              <a:buNone/>
            </a:pPr>
            <a:r>
              <a:rPr lang="es-CL" sz="4000">
                <a:solidFill>
                  <a:srgbClr val="E8785A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¿Comentarios?</a:t>
            </a:r>
            <a:endParaRPr sz="4000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03" name="Google Shape;203;p12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C7A7D"/>
              </a:buClr>
              <a:buSzPts val="1000"/>
              <a:buFont typeface="Calibri"/>
              <a:buNone/>
            </a:pPr>
            <a:r>
              <a:rPr lang="es-CL" sz="1000">
                <a:solidFill>
                  <a:srgbClr val="5C7A7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2026-09-10T04:45:51Z</dcterms:created>
  <dc:creator>PptxGenJS</dc:creator>
</cp:coreProperties>
</file>