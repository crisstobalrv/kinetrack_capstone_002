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3" r:id="rId8"/>
    <p:sldId id="264" r:id="rId9"/>
    <p:sldId id="265" r:id="rId10"/>
    <p:sldId id="266" r:id="rId11"/>
    <p:sldId id="267" r:id="rId12"/>
    <p:sldId id="268"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autoAdjust="0"/>
    <p:restoredTop sz="93557" autoAdjust="0"/>
  </p:normalViewPr>
  <p:slideViewPr>
    <p:cSldViewPr snapToGrid="0" snapToObjects="1">
      <p:cViewPr varScale="1">
        <p:scale>
          <a:sx n="60" d="100"/>
          <a:sy n="60" d="100"/>
        </p:scale>
        <p:origin x="884" y="48"/>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005463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4F52"/>
        </a:solidFill>
        <a:effectLst/>
      </p:bgPr>
    </p:bg>
    <p:spTree>
      <p:nvGrpSpPr>
        <p:cNvPr id="1" name=""/>
        <p:cNvGrpSpPr/>
        <p:nvPr/>
      </p:nvGrpSpPr>
      <p:grpSpPr>
        <a:xfrm>
          <a:off x="0" y="0"/>
          <a:ext cx="0" cy="0"/>
          <a:chOff x="0" y="0"/>
          <a:chExt cx="0" cy="0"/>
        </a:xfrm>
      </p:grpSpPr>
      <p:sp>
        <p:nvSpPr>
          <p:cNvPr id="2" name="Shape 0">
            <a:extLst>
              <a:ext uri="{C183D7F6-B498-43B3-948B-1728B52AA6E4}">
                <adec:decorative xmlns:adec="http://schemas.microsoft.com/office/drawing/2017/decorative" val="1"/>
              </a:ext>
            </a:extLst>
          </p:cNvPr>
          <p:cNvSpPr/>
          <p:nvPr/>
        </p:nvSpPr>
        <p:spPr>
          <a:xfrm>
            <a:off x="0" y="0"/>
            <a:ext cx="12188952" cy="6858000"/>
          </a:xfrm>
          <a:prstGeom prst="rect">
            <a:avLst/>
          </a:prstGeom>
          <a:solidFill>
            <a:srgbClr val="0B4F52"/>
          </a:solidFill>
          <a:ln/>
        </p:spPr>
        <p:txBody>
          <a:bodyPr/>
          <a:lstStyle/>
          <a:p>
            <a:endParaRPr lang="es-CL" noProof="0" dirty="0"/>
          </a:p>
        </p:txBody>
      </p:sp>
      <p:sp>
        <p:nvSpPr>
          <p:cNvPr id="3" name="Shape 1">
            <a:extLst>
              <a:ext uri="{C183D7F6-B498-43B3-948B-1728B52AA6E4}">
                <adec:decorative xmlns:adec="http://schemas.microsoft.com/office/drawing/2017/decorative" val="1"/>
              </a:ext>
            </a:extLst>
          </p:cNvPr>
          <p:cNvSpPr/>
          <p:nvPr/>
        </p:nvSpPr>
        <p:spPr>
          <a:xfrm>
            <a:off x="8686800" y="-2286000"/>
            <a:ext cx="6400800" cy="6400800"/>
          </a:xfrm>
          <a:prstGeom prst="ellipse">
            <a:avLst/>
          </a:prstGeom>
          <a:solidFill>
            <a:srgbClr val="0F6D7A">
              <a:alpha val="60000"/>
            </a:srgbClr>
          </a:solidFill>
          <a:ln/>
        </p:spPr>
        <p:txBody>
          <a:bodyPr/>
          <a:lstStyle/>
          <a:p>
            <a:endParaRPr lang="es-CL" noProof="0" dirty="0"/>
          </a:p>
        </p:txBody>
      </p:sp>
      <p:sp>
        <p:nvSpPr>
          <p:cNvPr id="4" name="Shape 2">
            <a:extLst>
              <a:ext uri="{C183D7F6-B498-43B3-948B-1728B52AA6E4}">
                <adec:decorative xmlns:adec="http://schemas.microsoft.com/office/drawing/2017/decorative" val="1"/>
              </a:ext>
            </a:extLst>
          </p:cNvPr>
          <p:cNvSpPr/>
          <p:nvPr/>
        </p:nvSpPr>
        <p:spPr>
          <a:xfrm>
            <a:off x="-1828800" y="4572000"/>
            <a:ext cx="5486400" cy="5486400"/>
          </a:xfrm>
          <a:prstGeom prst="ellipse">
            <a:avLst/>
          </a:prstGeom>
          <a:solidFill>
            <a:srgbClr val="14919B">
              <a:alpha val="45000"/>
            </a:srgbClr>
          </a:solidFill>
          <a:ln/>
        </p:spPr>
        <p:txBody>
          <a:bodyPr/>
          <a:lstStyle/>
          <a:p>
            <a:endParaRPr lang="es-CL" noProof="0" dirty="0"/>
          </a:p>
        </p:txBody>
      </p:sp>
      <p:sp>
        <p:nvSpPr>
          <p:cNvPr id="5" name="Text 3"/>
          <p:cNvSpPr txBox="1"/>
          <p:nvPr/>
        </p:nvSpPr>
        <p:spPr>
          <a:xfrm>
            <a:off x="822960" y="1965960"/>
            <a:ext cx="7315200" cy="365760"/>
          </a:xfrm>
          <a:prstGeom prst="rect">
            <a:avLst/>
          </a:prstGeom>
          <a:noFill/>
          <a:ln/>
        </p:spPr>
        <p:txBody>
          <a:bodyPr wrap="square" lIns="0" tIns="0" rIns="0" bIns="0" rtlCol="0" anchor="ctr"/>
          <a:lstStyle/>
          <a:p>
            <a:pPr marL="0" indent="0">
              <a:buNone/>
            </a:pPr>
            <a:r>
              <a:rPr lang="es-CL" sz="1400" b="1" kern="0" spc="200" noProof="0" dirty="0">
                <a:solidFill>
                  <a:srgbClr val="E8785A"/>
                </a:solidFill>
                <a:latin typeface="Calibri" pitchFamily="34" charset="0"/>
                <a:ea typeface="Calibri" pitchFamily="34" charset="-122"/>
                <a:cs typeface="Calibri" pitchFamily="34" charset="-120"/>
              </a:rPr>
              <a:t>PROYECTO APT · CAPSTONE</a:t>
            </a:r>
            <a:endParaRPr lang="es-CL" sz="1400" noProof="0" dirty="0"/>
          </a:p>
        </p:txBody>
      </p:sp>
      <p:sp>
        <p:nvSpPr>
          <p:cNvPr id="6" name="Text 4"/>
          <p:cNvSpPr txBox="1"/>
          <p:nvPr/>
        </p:nvSpPr>
        <p:spPr>
          <a:xfrm>
            <a:off x="777240" y="2331720"/>
            <a:ext cx="9144000" cy="1188720"/>
          </a:xfrm>
          <a:prstGeom prst="rect">
            <a:avLst/>
          </a:prstGeom>
          <a:noFill/>
          <a:ln/>
        </p:spPr>
        <p:txBody>
          <a:bodyPr wrap="square" lIns="0" tIns="0" rIns="0" bIns="0" rtlCol="0" anchor="ctr"/>
          <a:lstStyle/>
          <a:p>
            <a:pPr marL="0" indent="0">
              <a:buNone/>
            </a:pPr>
            <a:r>
              <a:rPr lang="es-CL" sz="6000" b="1" noProof="0" dirty="0" err="1">
                <a:solidFill>
                  <a:srgbClr val="FFFFFF"/>
                </a:solidFill>
                <a:latin typeface="Cambria" pitchFamily="34" charset="0"/>
                <a:ea typeface="Cambria" pitchFamily="34" charset="-122"/>
                <a:cs typeface="Cambria" pitchFamily="34" charset="-120"/>
              </a:rPr>
              <a:t>KineTrack</a:t>
            </a:r>
            <a:endParaRPr lang="es-CL" sz="6000" noProof="0" dirty="0"/>
          </a:p>
        </p:txBody>
      </p:sp>
      <p:sp>
        <p:nvSpPr>
          <p:cNvPr id="7" name="Text 5"/>
          <p:cNvSpPr txBox="1"/>
          <p:nvPr/>
        </p:nvSpPr>
        <p:spPr>
          <a:xfrm>
            <a:off x="822960" y="3520440"/>
            <a:ext cx="8229600" cy="548640"/>
          </a:xfrm>
          <a:prstGeom prst="rect">
            <a:avLst/>
          </a:prstGeom>
          <a:noFill/>
          <a:ln/>
        </p:spPr>
        <p:txBody>
          <a:bodyPr wrap="square" lIns="0" tIns="0" rIns="0" bIns="0" rtlCol="0" anchor="ctr"/>
          <a:lstStyle/>
          <a:p>
            <a:pPr marL="0" indent="0">
              <a:buNone/>
            </a:pPr>
            <a:r>
              <a:rPr lang="es-CL" sz="2400" noProof="0" dirty="0">
                <a:solidFill>
                  <a:srgbClr val="CFEDEC"/>
                </a:solidFill>
                <a:latin typeface="Calibri" pitchFamily="34" charset="0"/>
                <a:ea typeface="Calibri" pitchFamily="34" charset="-122"/>
                <a:cs typeface="Calibri" pitchFamily="34" charset="-120"/>
              </a:rPr>
              <a:t>Plataforma web para la gestión activa de tratamientos kinesiológicos</a:t>
            </a:r>
            <a:endParaRPr lang="es-CL" sz="2400" noProof="0" dirty="0"/>
          </a:p>
        </p:txBody>
      </p:sp>
      <p:sp>
        <p:nvSpPr>
          <p:cNvPr id="8" name="Text 6"/>
          <p:cNvSpPr txBox="1"/>
          <p:nvPr/>
        </p:nvSpPr>
        <p:spPr>
          <a:xfrm>
            <a:off x="822960" y="5120640"/>
            <a:ext cx="1828800" cy="320040"/>
          </a:xfrm>
          <a:prstGeom prst="rect">
            <a:avLst/>
          </a:prstGeom>
          <a:noFill/>
          <a:ln/>
        </p:spPr>
        <p:txBody>
          <a:bodyPr wrap="square" lIns="0" tIns="0" rIns="0" bIns="0" rtlCol="0" anchor="ctr"/>
          <a:lstStyle/>
          <a:p>
            <a:pPr marL="0" indent="0">
              <a:buNone/>
            </a:pPr>
            <a:r>
              <a:rPr lang="es-CL" sz="2000" b="1" noProof="0" dirty="0">
                <a:solidFill>
                  <a:srgbClr val="E8785A"/>
                </a:solidFill>
                <a:latin typeface="Calibri" pitchFamily="34" charset="0"/>
                <a:ea typeface="Calibri" pitchFamily="34" charset="-122"/>
                <a:cs typeface="Calibri" pitchFamily="34" charset="-120"/>
              </a:rPr>
              <a:t>Cliente:</a:t>
            </a:r>
            <a:endParaRPr lang="es-CL" sz="2000" noProof="0" dirty="0"/>
          </a:p>
        </p:txBody>
      </p:sp>
      <p:sp>
        <p:nvSpPr>
          <p:cNvPr id="9" name="Text 7"/>
          <p:cNvSpPr txBox="1"/>
          <p:nvPr/>
        </p:nvSpPr>
        <p:spPr>
          <a:xfrm>
            <a:off x="822960" y="5440680"/>
            <a:ext cx="4572000" cy="320040"/>
          </a:xfrm>
          <a:prstGeom prst="rect">
            <a:avLst/>
          </a:prstGeom>
          <a:noFill/>
          <a:ln/>
        </p:spPr>
        <p:txBody>
          <a:bodyPr wrap="square" lIns="0" tIns="0" rIns="0" bIns="0" rtlCol="0" anchor="ctr"/>
          <a:lstStyle/>
          <a:p>
            <a:pPr marL="0" indent="0">
              <a:buNone/>
            </a:pPr>
            <a:r>
              <a:rPr lang="es-CL" sz="1900" noProof="0" dirty="0">
                <a:solidFill>
                  <a:srgbClr val="FFFFFF"/>
                </a:solidFill>
                <a:latin typeface="Calibri" pitchFamily="34" charset="0"/>
                <a:cs typeface="Calibri" pitchFamily="34" charset="-120"/>
              </a:rPr>
              <a:t>Clínica Los Andes</a:t>
            </a:r>
            <a:endParaRPr lang="es-CL" sz="1900" noProof="0" dirty="0"/>
          </a:p>
        </p:txBody>
      </p:sp>
      <p:sp>
        <p:nvSpPr>
          <p:cNvPr id="10" name="Text 8"/>
          <p:cNvSpPr txBox="1"/>
          <p:nvPr/>
        </p:nvSpPr>
        <p:spPr>
          <a:xfrm>
            <a:off x="4754880" y="5120640"/>
            <a:ext cx="2743200" cy="320040"/>
          </a:xfrm>
          <a:prstGeom prst="rect">
            <a:avLst/>
          </a:prstGeom>
          <a:noFill/>
          <a:ln/>
        </p:spPr>
        <p:txBody>
          <a:bodyPr wrap="square" lIns="0" tIns="0" rIns="0" bIns="0" rtlCol="0" anchor="ctr"/>
          <a:lstStyle/>
          <a:p>
            <a:pPr marL="0" indent="0">
              <a:buNone/>
            </a:pPr>
            <a:r>
              <a:rPr lang="es-CL" sz="2000" b="1" noProof="0" dirty="0">
                <a:solidFill>
                  <a:srgbClr val="E8785A"/>
                </a:solidFill>
                <a:latin typeface="Calibri" pitchFamily="34" charset="0"/>
                <a:ea typeface="Calibri" pitchFamily="34" charset="-122"/>
                <a:cs typeface="Calibri" pitchFamily="34" charset="-120"/>
              </a:rPr>
              <a:t>Presentado por:</a:t>
            </a:r>
            <a:endParaRPr lang="es-CL" sz="2000" noProof="0" dirty="0"/>
          </a:p>
        </p:txBody>
      </p:sp>
      <p:sp>
        <p:nvSpPr>
          <p:cNvPr id="11" name="Text 9"/>
          <p:cNvSpPr txBox="1"/>
          <p:nvPr/>
        </p:nvSpPr>
        <p:spPr>
          <a:xfrm>
            <a:off x="4754880" y="5440680"/>
            <a:ext cx="6400800" cy="320040"/>
          </a:xfrm>
          <a:prstGeom prst="rect">
            <a:avLst/>
          </a:prstGeom>
          <a:noFill/>
          <a:ln/>
        </p:spPr>
        <p:txBody>
          <a:bodyPr wrap="square" lIns="0" tIns="0" rIns="0" bIns="0" rtlCol="0" anchor="ctr"/>
          <a:lstStyle/>
          <a:p>
            <a:pPr marL="0" indent="0">
              <a:buNone/>
            </a:pPr>
            <a:r>
              <a:rPr lang="es-CL" sz="1900" noProof="0" dirty="0">
                <a:solidFill>
                  <a:srgbClr val="FFFFFF"/>
                </a:solidFill>
                <a:latin typeface="Calibri" pitchFamily="34" charset="0"/>
                <a:ea typeface="Calibri" pitchFamily="34" charset="-122"/>
                <a:cs typeface="Calibri" pitchFamily="34" charset="-120"/>
              </a:rPr>
              <a:t>Cristóbal Retamal · Benjamín Sepúlveda · Benjamín Contreras</a:t>
            </a:r>
            <a:endParaRPr lang="es-CL" sz="1900" noProof="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DFF4F3"/>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64240" cy="822960"/>
          </a:xfrm>
          <a:prstGeom prst="rect">
            <a:avLst/>
          </a:prstGeom>
          <a:noFill/>
          <a:ln/>
        </p:spPr>
        <p:txBody>
          <a:bodyPr wrap="square" lIns="0" tIns="0" rIns="0" bIns="0" rtlCol="0" anchor="ctr"/>
          <a:lstStyle/>
          <a:p>
            <a:pPr marL="0" indent="0" algn="l">
              <a:buNone/>
            </a:pPr>
            <a:r>
              <a:rPr lang="es-CL" sz="3200" b="1" noProof="0" dirty="0">
                <a:solidFill>
                  <a:srgbClr val="0F6D7A"/>
                </a:solidFill>
                <a:latin typeface="Calibri" pitchFamily="34" charset="0"/>
                <a:ea typeface="Calibri" pitchFamily="34" charset="-122"/>
                <a:cs typeface="Calibri" pitchFamily="34" charset="-120"/>
              </a:rPr>
              <a:t>Descripción del Proyecto</a:t>
            </a:r>
            <a:endParaRPr lang="es-CL" sz="3200" noProof="0" dirty="0"/>
          </a:p>
        </p:txBody>
      </p:sp>
      <p:sp>
        <p:nvSpPr>
          <p:cNvPr id="3" name="Shape 1">
            <a:extLst>
              <a:ext uri="{C183D7F6-B498-43B3-948B-1728B52AA6E4}">
                <adec:decorative xmlns:adec="http://schemas.microsoft.com/office/drawing/2017/decorative" val="1"/>
              </a:ext>
            </a:extLst>
          </p:cNvPr>
          <p:cNvSpPr/>
          <p:nvPr/>
        </p:nvSpPr>
        <p:spPr>
          <a:xfrm>
            <a:off x="548640" y="1417320"/>
            <a:ext cx="5394960" cy="2148840"/>
          </a:xfrm>
          <a:prstGeom prst="roundRect">
            <a:avLst>
              <a:gd name="adj" fmla="val 5106"/>
            </a:avLst>
          </a:prstGeom>
          <a:solidFill>
            <a:srgbClr val="FFFFFF"/>
          </a:solidFill>
          <a:ln/>
          <a:effectLst>
            <a:outerShdw blurRad="76200" dist="25400" dir="5400000" algn="bl" rotWithShape="0">
              <a:srgbClr val="1F3A3D">
                <a:alpha val="15000"/>
              </a:srgbClr>
            </a:outerShdw>
          </a:effectLst>
        </p:spPr>
        <p:txBody>
          <a:bodyPr/>
          <a:lstStyle/>
          <a:p>
            <a:endParaRPr lang="es-CL" noProof="0" dirty="0"/>
          </a:p>
        </p:txBody>
      </p:sp>
      <p:sp>
        <p:nvSpPr>
          <p:cNvPr id="4" name="Shape 2">
            <a:extLst>
              <a:ext uri="{C183D7F6-B498-43B3-948B-1728B52AA6E4}">
                <adec:decorative xmlns:adec="http://schemas.microsoft.com/office/drawing/2017/decorative" val="1"/>
              </a:ext>
            </a:extLst>
          </p:cNvPr>
          <p:cNvSpPr/>
          <p:nvPr/>
        </p:nvSpPr>
        <p:spPr>
          <a:xfrm>
            <a:off x="822960" y="1691640"/>
            <a:ext cx="457200" cy="457200"/>
          </a:xfrm>
          <a:prstGeom prst="ellipse">
            <a:avLst/>
          </a:prstGeom>
          <a:solidFill>
            <a:srgbClr val="14919B"/>
          </a:solidFill>
          <a:ln/>
        </p:spPr>
        <p:txBody>
          <a:bodyPr/>
          <a:lstStyle/>
          <a:p>
            <a:endParaRPr lang="es-CL" noProof="0" dirty="0"/>
          </a:p>
        </p:txBody>
      </p:sp>
      <p:sp>
        <p:nvSpPr>
          <p:cNvPr id="5" name="Text 3"/>
          <p:cNvSpPr txBox="1"/>
          <p:nvPr/>
        </p:nvSpPr>
        <p:spPr>
          <a:xfrm>
            <a:off x="822960" y="1691640"/>
            <a:ext cx="457200" cy="457200"/>
          </a:xfrm>
          <a:prstGeom prst="rect">
            <a:avLst/>
          </a:prstGeom>
          <a:noFill/>
          <a:ln/>
        </p:spPr>
        <p:txBody>
          <a:bodyPr wrap="square" lIns="0" tIns="0" rIns="0" bIns="0" rtlCol="0" anchor="ctr"/>
          <a:lstStyle/>
          <a:p>
            <a:pPr marL="0" indent="0" algn="ctr">
              <a:buNone/>
            </a:pPr>
            <a:r>
              <a:rPr lang="es-CL" sz="1800" b="1" noProof="0" dirty="0">
                <a:solidFill>
                  <a:srgbClr val="FFFFFF"/>
                </a:solidFill>
                <a:latin typeface="Calibri" pitchFamily="34" charset="0"/>
                <a:ea typeface="Calibri" pitchFamily="34" charset="-122"/>
                <a:cs typeface="Calibri" pitchFamily="34" charset="-120"/>
              </a:rPr>
              <a:t>1</a:t>
            </a:r>
            <a:endParaRPr lang="es-CL" sz="1800" noProof="0" dirty="0"/>
          </a:p>
        </p:txBody>
      </p:sp>
      <p:sp>
        <p:nvSpPr>
          <p:cNvPr id="6" name="Text 4"/>
          <p:cNvSpPr txBox="1"/>
          <p:nvPr/>
        </p:nvSpPr>
        <p:spPr>
          <a:xfrm>
            <a:off x="1417320" y="1691640"/>
            <a:ext cx="4206240" cy="457200"/>
          </a:xfrm>
          <a:prstGeom prst="rect">
            <a:avLst/>
          </a:prstGeom>
          <a:noFill/>
          <a:ln/>
        </p:spPr>
        <p:txBody>
          <a:bodyPr wrap="square" lIns="0" tIns="0" rIns="0" bIns="0" rtlCol="0" anchor="ctr"/>
          <a:lstStyle/>
          <a:p>
            <a:pPr marL="0" indent="0">
              <a:buNone/>
            </a:pPr>
            <a:r>
              <a:rPr lang="es-CL" sz="2000" b="1" noProof="0" dirty="0">
                <a:solidFill>
                  <a:srgbClr val="0F6D7A"/>
                </a:solidFill>
                <a:latin typeface="Calibri" pitchFamily="34" charset="0"/>
                <a:ea typeface="Calibri" pitchFamily="34" charset="-122"/>
                <a:cs typeface="Calibri" pitchFamily="34" charset="-120"/>
              </a:rPr>
              <a:t>¿Para quién?</a:t>
            </a:r>
            <a:endParaRPr lang="es-CL" sz="2000" noProof="0" dirty="0"/>
          </a:p>
        </p:txBody>
      </p:sp>
      <p:sp>
        <p:nvSpPr>
          <p:cNvPr id="7" name="Text 5"/>
          <p:cNvSpPr txBox="1"/>
          <p:nvPr/>
        </p:nvSpPr>
        <p:spPr>
          <a:xfrm>
            <a:off x="868680" y="2286000"/>
            <a:ext cx="4754880" cy="1143000"/>
          </a:xfrm>
          <a:prstGeom prst="rect">
            <a:avLst/>
          </a:prstGeom>
          <a:noFill/>
          <a:ln/>
        </p:spPr>
        <p:txBody>
          <a:bodyPr wrap="square" lIns="0" tIns="0" rIns="0" bIns="0" rtlCol="0" anchor="t"/>
          <a:lstStyle/>
          <a:p>
            <a:pPr marL="0" indent="0">
              <a:lnSpc>
                <a:spcPct val="115000"/>
              </a:lnSpc>
              <a:buNone/>
            </a:pPr>
            <a:r>
              <a:rPr lang="es-CL" noProof="0" dirty="0">
                <a:solidFill>
                  <a:srgbClr val="1F3A3D"/>
                </a:solidFill>
                <a:latin typeface="Calibri" pitchFamily="34" charset="0"/>
                <a:ea typeface="Calibri" pitchFamily="34" charset="-122"/>
                <a:cs typeface="Calibri" pitchFamily="34" charset="-120"/>
              </a:rPr>
              <a:t>Clínica Los Andes ya que cuenta con varios profesionales: Kinesiólogos, Coordinación, Pacientes y Administrador.</a:t>
            </a:r>
            <a:endParaRPr lang="es-CL" noProof="0" dirty="0"/>
          </a:p>
        </p:txBody>
      </p:sp>
      <p:sp>
        <p:nvSpPr>
          <p:cNvPr id="8" name="Shape 6">
            <a:extLst>
              <a:ext uri="{C183D7F6-B498-43B3-948B-1728B52AA6E4}">
                <adec:decorative xmlns:adec="http://schemas.microsoft.com/office/drawing/2017/decorative" val="1"/>
              </a:ext>
            </a:extLst>
          </p:cNvPr>
          <p:cNvSpPr/>
          <p:nvPr/>
        </p:nvSpPr>
        <p:spPr>
          <a:xfrm>
            <a:off x="6263640" y="1417320"/>
            <a:ext cx="5394960" cy="2148840"/>
          </a:xfrm>
          <a:prstGeom prst="roundRect">
            <a:avLst>
              <a:gd name="adj" fmla="val 5106"/>
            </a:avLst>
          </a:prstGeom>
          <a:solidFill>
            <a:srgbClr val="FFFFFF"/>
          </a:solidFill>
          <a:ln/>
          <a:effectLst>
            <a:outerShdw blurRad="76200" dist="25400" dir="5400000" algn="bl" rotWithShape="0">
              <a:srgbClr val="1F3A3D">
                <a:alpha val="15000"/>
              </a:srgbClr>
            </a:outerShdw>
          </a:effectLst>
        </p:spPr>
        <p:txBody>
          <a:bodyPr/>
          <a:lstStyle/>
          <a:p>
            <a:endParaRPr lang="es-CL" noProof="0" dirty="0"/>
          </a:p>
        </p:txBody>
      </p:sp>
      <p:sp>
        <p:nvSpPr>
          <p:cNvPr id="9" name="Shape 7">
            <a:extLst>
              <a:ext uri="{C183D7F6-B498-43B3-948B-1728B52AA6E4}">
                <adec:decorative xmlns:adec="http://schemas.microsoft.com/office/drawing/2017/decorative" val="1"/>
              </a:ext>
            </a:extLst>
          </p:cNvPr>
          <p:cNvSpPr/>
          <p:nvPr/>
        </p:nvSpPr>
        <p:spPr>
          <a:xfrm>
            <a:off x="6537960" y="1691640"/>
            <a:ext cx="457200" cy="457200"/>
          </a:xfrm>
          <a:prstGeom prst="ellipse">
            <a:avLst/>
          </a:prstGeom>
          <a:solidFill>
            <a:srgbClr val="14919B"/>
          </a:solidFill>
          <a:ln/>
        </p:spPr>
        <p:txBody>
          <a:bodyPr/>
          <a:lstStyle/>
          <a:p>
            <a:endParaRPr lang="es-CL" noProof="0" dirty="0"/>
          </a:p>
        </p:txBody>
      </p:sp>
      <p:sp>
        <p:nvSpPr>
          <p:cNvPr id="10" name="Text 8"/>
          <p:cNvSpPr txBox="1"/>
          <p:nvPr/>
        </p:nvSpPr>
        <p:spPr>
          <a:xfrm>
            <a:off x="6537960" y="1691640"/>
            <a:ext cx="457200" cy="457200"/>
          </a:xfrm>
          <a:prstGeom prst="rect">
            <a:avLst/>
          </a:prstGeom>
          <a:noFill/>
          <a:ln/>
        </p:spPr>
        <p:txBody>
          <a:bodyPr wrap="square" lIns="0" tIns="0" rIns="0" bIns="0" rtlCol="0" anchor="ctr"/>
          <a:lstStyle/>
          <a:p>
            <a:pPr marL="0" indent="0" algn="ctr">
              <a:buNone/>
            </a:pPr>
            <a:r>
              <a:rPr lang="es-CL" sz="1800" b="1" noProof="0" dirty="0">
                <a:solidFill>
                  <a:srgbClr val="FFFFFF"/>
                </a:solidFill>
                <a:latin typeface="Calibri" pitchFamily="34" charset="0"/>
                <a:ea typeface="Calibri" pitchFamily="34" charset="-122"/>
                <a:cs typeface="Calibri" pitchFamily="34" charset="-120"/>
              </a:rPr>
              <a:t>2</a:t>
            </a:r>
            <a:endParaRPr lang="es-CL" sz="1800" noProof="0" dirty="0"/>
          </a:p>
        </p:txBody>
      </p:sp>
      <p:sp>
        <p:nvSpPr>
          <p:cNvPr id="11" name="Text 9"/>
          <p:cNvSpPr txBox="1"/>
          <p:nvPr/>
        </p:nvSpPr>
        <p:spPr>
          <a:xfrm>
            <a:off x="7132320" y="1691640"/>
            <a:ext cx="4206240" cy="457200"/>
          </a:xfrm>
          <a:prstGeom prst="rect">
            <a:avLst/>
          </a:prstGeom>
          <a:noFill/>
          <a:ln/>
        </p:spPr>
        <p:txBody>
          <a:bodyPr wrap="square" lIns="0" tIns="0" rIns="0" bIns="0" rtlCol="0" anchor="ctr"/>
          <a:lstStyle/>
          <a:p>
            <a:pPr marL="0" indent="0">
              <a:buNone/>
            </a:pPr>
            <a:r>
              <a:rPr lang="es-CL" sz="2000" b="1" noProof="0" dirty="0">
                <a:solidFill>
                  <a:srgbClr val="0F6D7A"/>
                </a:solidFill>
                <a:latin typeface="Calibri" pitchFamily="34" charset="0"/>
                <a:ea typeface="Calibri" pitchFamily="34" charset="-122"/>
                <a:cs typeface="Calibri" pitchFamily="34" charset="-120"/>
              </a:rPr>
              <a:t>¿Qué es?</a:t>
            </a:r>
            <a:endParaRPr lang="es-CL" sz="2000" noProof="0" dirty="0"/>
          </a:p>
        </p:txBody>
      </p:sp>
      <p:sp>
        <p:nvSpPr>
          <p:cNvPr id="12" name="Text 10"/>
          <p:cNvSpPr txBox="1"/>
          <p:nvPr/>
        </p:nvSpPr>
        <p:spPr>
          <a:xfrm>
            <a:off x="6583680" y="2286000"/>
            <a:ext cx="4754880" cy="1143000"/>
          </a:xfrm>
          <a:prstGeom prst="rect">
            <a:avLst/>
          </a:prstGeom>
          <a:noFill/>
          <a:ln/>
        </p:spPr>
        <p:txBody>
          <a:bodyPr wrap="square" lIns="0" tIns="0" rIns="0" bIns="0" rtlCol="0" anchor="t"/>
          <a:lstStyle/>
          <a:p>
            <a:pPr marL="0" indent="0">
              <a:lnSpc>
                <a:spcPct val="115000"/>
              </a:lnSpc>
              <a:buNone/>
            </a:pPr>
            <a:r>
              <a:rPr lang="es-CL" sz="1900" noProof="0" dirty="0">
                <a:solidFill>
                  <a:srgbClr val="1F3A3D"/>
                </a:solidFill>
                <a:latin typeface="Calibri" pitchFamily="34" charset="0"/>
                <a:ea typeface="Calibri" pitchFamily="34" charset="-122"/>
                <a:cs typeface="Calibri" pitchFamily="34" charset="-120"/>
              </a:rPr>
              <a:t>Una plataforma web, con diseño responsive para uso móvil, de gestión activa del proceso de rehabilitación.</a:t>
            </a:r>
            <a:endParaRPr lang="es-CL" sz="1900" noProof="0" dirty="0"/>
          </a:p>
        </p:txBody>
      </p:sp>
      <p:sp>
        <p:nvSpPr>
          <p:cNvPr id="13" name="Shape 11">
            <a:extLst>
              <a:ext uri="{C183D7F6-B498-43B3-948B-1728B52AA6E4}">
                <adec:decorative xmlns:adec="http://schemas.microsoft.com/office/drawing/2017/decorative" val="1"/>
              </a:ext>
            </a:extLst>
          </p:cNvPr>
          <p:cNvSpPr/>
          <p:nvPr/>
        </p:nvSpPr>
        <p:spPr>
          <a:xfrm>
            <a:off x="548640" y="3794760"/>
            <a:ext cx="5394960" cy="2148840"/>
          </a:xfrm>
          <a:prstGeom prst="roundRect">
            <a:avLst>
              <a:gd name="adj" fmla="val 5106"/>
            </a:avLst>
          </a:prstGeom>
          <a:solidFill>
            <a:srgbClr val="FFFFFF"/>
          </a:solidFill>
          <a:ln/>
          <a:effectLst>
            <a:outerShdw blurRad="76200" dist="25400" dir="5400000" algn="bl" rotWithShape="0">
              <a:srgbClr val="1F3A3D">
                <a:alpha val="15000"/>
              </a:srgbClr>
            </a:outerShdw>
          </a:effectLst>
        </p:spPr>
        <p:txBody>
          <a:bodyPr/>
          <a:lstStyle/>
          <a:p>
            <a:endParaRPr lang="es-CL" noProof="0" dirty="0"/>
          </a:p>
        </p:txBody>
      </p:sp>
      <p:sp>
        <p:nvSpPr>
          <p:cNvPr id="14" name="Shape 12">
            <a:extLst>
              <a:ext uri="{C183D7F6-B498-43B3-948B-1728B52AA6E4}">
                <adec:decorative xmlns:adec="http://schemas.microsoft.com/office/drawing/2017/decorative" val="1"/>
              </a:ext>
            </a:extLst>
          </p:cNvPr>
          <p:cNvSpPr/>
          <p:nvPr/>
        </p:nvSpPr>
        <p:spPr>
          <a:xfrm>
            <a:off x="822960" y="4069080"/>
            <a:ext cx="457200" cy="457200"/>
          </a:xfrm>
          <a:prstGeom prst="ellipse">
            <a:avLst/>
          </a:prstGeom>
          <a:solidFill>
            <a:srgbClr val="14919B"/>
          </a:solidFill>
          <a:ln/>
        </p:spPr>
        <p:txBody>
          <a:bodyPr/>
          <a:lstStyle/>
          <a:p>
            <a:endParaRPr lang="es-CL" noProof="0" dirty="0"/>
          </a:p>
        </p:txBody>
      </p:sp>
      <p:sp>
        <p:nvSpPr>
          <p:cNvPr id="15" name="Text 13"/>
          <p:cNvSpPr txBox="1"/>
          <p:nvPr/>
        </p:nvSpPr>
        <p:spPr>
          <a:xfrm>
            <a:off x="822960" y="4069080"/>
            <a:ext cx="457200" cy="457200"/>
          </a:xfrm>
          <a:prstGeom prst="rect">
            <a:avLst/>
          </a:prstGeom>
          <a:noFill/>
          <a:ln/>
        </p:spPr>
        <p:txBody>
          <a:bodyPr wrap="square" lIns="0" tIns="0" rIns="0" bIns="0" rtlCol="0" anchor="ctr"/>
          <a:lstStyle/>
          <a:p>
            <a:pPr marL="0" indent="0" algn="ctr">
              <a:buNone/>
            </a:pPr>
            <a:r>
              <a:rPr lang="es-CL" sz="1800" b="1" noProof="0" dirty="0">
                <a:solidFill>
                  <a:srgbClr val="FFFFFF"/>
                </a:solidFill>
                <a:latin typeface="Calibri" pitchFamily="34" charset="0"/>
                <a:ea typeface="Calibri" pitchFamily="34" charset="-122"/>
                <a:cs typeface="Calibri" pitchFamily="34" charset="-120"/>
              </a:rPr>
              <a:t>3</a:t>
            </a:r>
            <a:endParaRPr lang="es-CL" sz="1800" noProof="0" dirty="0"/>
          </a:p>
        </p:txBody>
      </p:sp>
      <p:sp>
        <p:nvSpPr>
          <p:cNvPr id="16" name="Text 14"/>
          <p:cNvSpPr txBox="1"/>
          <p:nvPr/>
        </p:nvSpPr>
        <p:spPr>
          <a:xfrm>
            <a:off x="1417320" y="4069080"/>
            <a:ext cx="4206240" cy="457200"/>
          </a:xfrm>
          <a:prstGeom prst="rect">
            <a:avLst/>
          </a:prstGeom>
          <a:noFill/>
          <a:ln/>
        </p:spPr>
        <p:txBody>
          <a:bodyPr wrap="square" lIns="0" tIns="0" rIns="0" bIns="0" rtlCol="0" anchor="ctr"/>
          <a:lstStyle/>
          <a:p>
            <a:pPr marL="0" indent="0">
              <a:buNone/>
            </a:pPr>
            <a:r>
              <a:rPr lang="es-CL" sz="2000" b="1" noProof="0" dirty="0">
                <a:solidFill>
                  <a:srgbClr val="0F6D7A"/>
                </a:solidFill>
                <a:latin typeface="Calibri" pitchFamily="34" charset="0"/>
                <a:ea typeface="Calibri" pitchFamily="34" charset="-122"/>
                <a:cs typeface="Calibri" pitchFamily="34" charset="-120"/>
              </a:rPr>
              <a:t>¿Qué hará?</a:t>
            </a:r>
            <a:endParaRPr lang="es-CL" sz="2000" noProof="0" dirty="0"/>
          </a:p>
        </p:txBody>
      </p:sp>
      <p:sp>
        <p:nvSpPr>
          <p:cNvPr id="17" name="Text 15"/>
          <p:cNvSpPr txBox="1"/>
          <p:nvPr/>
        </p:nvSpPr>
        <p:spPr>
          <a:xfrm>
            <a:off x="868680" y="4594860"/>
            <a:ext cx="4754880" cy="1143000"/>
          </a:xfrm>
          <a:prstGeom prst="rect">
            <a:avLst/>
          </a:prstGeom>
          <a:noFill/>
          <a:ln/>
        </p:spPr>
        <p:txBody>
          <a:bodyPr wrap="square" lIns="0" tIns="0" rIns="0" bIns="0" rtlCol="0" anchor="t"/>
          <a:lstStyle/>
          <a:p>
            <a:pPr marL="0" indent="0">
              <a:lnSpc>
                <a:spcPct val="115000"/>
              </a:lnSpc>
              <a:buNone/>
            </a:pPr>
            <a:r>
              <a:rPr lang="es-CL" noProof="0" dirty="0">
                <a:solidFill>
                  <a:srgbClr val="1F3A3D"/>
                </a:solidFill>
                <a:latin typeface="Calibri" pitchFamily="34" charset="0"/>
                <a:ea typeface="Calibri" pitchFamily="34" charset="-122"/>
                <a:cs typeface="Calibri" pitchFamily="34" charset="-120"/>
              </a:rPr>
              <a:t>Centralizará el registro de pacientes, planes de ejercicio, sesiones de control y un sistema de Alertas de Seguimiento con escalamiento automático.</a:t>
            </a:r>
            <a:endParaRPr lang="es-CL" noProof="0" dirty="0"/>
          </a:p>
        </p:txBody>
      </p:sp>
      <p:sp>
        <p:nvSpPr>
          <p:cNvPr id="18" name="Shape 16">
            <a:extLst>
              <a:ext uri="{C183D7F6-B498-43B3-948B-1728B52AA6E4}">
                <adec:decorative xmlns:adec="http://schemas.microsoft.com/office/drawing/2017/decorative" val="1"/>
              </a:ext>
            </a:extLst>
          </p:cNvPr>
          <p:cNvSpPr/>
          <p:nvPr/>
        </p:nvSpPr>
        <p:spPr>
          <a:xfrm>
            <a:off x="6263640" y="3794760"/>
            <a:ext cx="5394960" cy="2148840"/>
          </a:xfrm>
          <a:prstGeom prst="roundRect">
            <a:avLst>
              <a:gd name="adj" fmla="val 5106"/>
            </a:avLst>
          </a:prstGeom>
          <a:solidFill>
            <a:srgbClr val="FFFFFF"/>
          </a:solidFill>
          <a:ln/>
          <a:effectLst>
            <a:outerShdw blurRad="76200" dist="25400" dir="5400000" algn="bl" rotWithShape="0">
              <a:srgbClr val="1F3A3D">
                <a:alpha val="15000"/>
              </a:srgbClr>
            </a:outerShdw>
          </a:effectLst>
        </p:spPr>
        <p:txBody>
          <a:bodyPr/>
          <a:lstStyle/>
          <a:p>
            <a:endParaRPr lang="es-CL" noProof="0" dirty="0"/>
          </a:p>
        </p:txBody>
      </p:sp>
      <p:sp>
        <p:nvSpPr>
          <p:cNvPr id="19" name="Shape 17">
            <a:extLst>
              <a:ext uri="{C183D7F6-B498-43B3-948B-1728B52AA6E4}">
                <adec:decorative xmlns:adec="http://schemas.microsoft.com/office/drawing/2017/decorative" val="1"/>
              </a:ext>
            </a:extLst>
          </p:cNvPr>
          <p:cNvSpPr/>
          <p:nvPr/>
        </p:nvSpPr>
        <p:spPr>
          <a:xfrm>
            <a:off x="6537960" y="4069080"/>
            <a:ext cx="457200" cy="457200"/>
          </a:xfrm>
          <a:prstGeom prst="ellipse">
            <a:avLst/>
          </a:prstGeom>
          <a:solidFill>
            <a:srgbClr val="14919B"/>
          </a:solidFill>
          <a:ln/>
        </p:spPr>
        <p:txBody>
          <a:bodyPr/>
          <a:lstStyle/>
          <a:p>
            <a:endParaRPr lang="es-CL" noProof="0" dirty="0"/>
          </a:p>
        </p:txBody>
      </p:sp>
      <p:sp>
        <p:nvSpPr>
          <p:cNvPr id="20" name="Text 18"/>
          <p:cNvSpPr txBox="1"/>
          <p:nvPr/>
        </p:nvSpPr>
        <p:spPr>
          <a:xfrm>
            <a:off x="6537960" y="4069080"/>
            <a:ext cx="457200" cy="457200"/>
          </a:xfrm>
          <a:prstGeom prst="rect">
            <a:avLst/>
          </a:prstGeom>
          <a:noFill/>
          <a:ln/>
        </p:spPr>
        <p:txBody>
          <a:bodyPr wrap="square" lIns="0" tIns="0" rIns="0" bIns="0" rtlCol="0" anchor="ctr"/>
          <a:lstStyle/>
          <a:p>
            <a:pPr marL="0" indent="0" algn="ctr">
              <a:buNone/>
            </a:pPr>
            <a:r>
              <a:rPr lang="es-CL" sz="1800" b="1" noProof="0" dirty="0">
                <a:solidFill>
                  <a:srgbClr val="FFFFFF"/>
                </a:solidFill>
                <a:latin typeface="Calibri" pitchFamily="34" charset="0"/>
                <a:ea typeface="Calibri" pitchFamily="34" charset="-122"/>
                <a:cs typeface="Calibri" pitchFamily="34" charset="-120"/>
              </a:rPr>
              <a:t>4</a:t>
            </a:r>
            <a:endParaRPr lang="es-CL" sz="1800" noProof="0" dirty="0"/>
          </a:p>
        </p:txBody>
      </p:sp>
      <p:sp>
        <p:nvSpPr>
          <p:cNvPr id="21" name="Text 19"/>
          <p:cNvSpPr txBox="1"/>
          <p:nvPr/>
        </p:nvSpPr>
        <p:spPr>
          <a:xfrm>
            <a:off x="7132320" y="4069080"/>
            <a:ext cx="4206240" cy="457200"/>
          </a:xfrm>
          <a:prstGeom prst="rect">
            <a:avLst/>
          </a:prstGeom>
          <a:noFill/>
          <a:ln/>
        </p:spPr>
        <p:txBody>
          <a:bodyPr wrap="square" lIns="0" tIns="0" rIns="0" bIns="0" rtlCol="0" anchor="ctr"/>
          <a:lstStyle/>
          <a:p>
            <a:pPr marL="0" indent="0">
              <a:buNone/>
            </a:pPr>
            <a:r>
              <a:rPr lang="es-CL" sz="2000" b="1" noProof="0" dirty="0">
                <a:solidFill>
                  <a:srgbClr val="0F6D7A"/>
                </a:solidFill>
                <a:latin typeface="Calibri" pitchFamily="34" charset="0"/>
                <a:ea typeface="Calibri" pitchFamily="34" charset="-122"/>
                <a:cs typeface="Calibri" pitchFamily="34" charset="-120"/>
              </a:rPr>
              <a:t>¿Para qué?</a:t>
            </a:r>
            <a:endParaRPr lang="es-CL" sz="2000" noProof="0" dirty="0"/>
          </a:p>
        </p:txBody>
      </p:sp>
      <p:sp>
        <p:nvSpPr>
          <p:cNvPr id="22" name="Text 20"/>
          <p:cNvSpPr txBox="1"/>
          <p:nvPr/>
        </p:nvSpPr>
        <p:spPr>
          <a:xfrm>
            <a:off x="6583680" y="4663440"/>
            <a:ext cx="4754880" cy="1143000"/>
          </a:xfrm>
          <a:prstGeom prst="rect">
            <a:avLst/>
          </a:prstGeom>
          <a:noFill/>
          <a:ln/>
        </p:spPr>
        <p:txBody>
          <a:bodyPr wrap="square" lIns="0" tIns="0" rIns="0" bIns="0" rtlCol="0" anchor="t"/>
          <a:lstStyle/>
          <a:p>
            <a:pPr marL="0" indent="0">
              <a:lnSpc>
                <a:spcPct val="115000"/>
              </a:lnSpc>
              <a:buNone/>
            </a:pPr>
            <a:r>
              <a:rPr lang="es-CL" sz="1900" noProof="0" dirty="0">
                <a:solidFill>
                  <a:srgbClr val="1F3A3D"/>
                </a:solidFill>
                <a:latin typeface="Calibri" pitchFamily="34" charset="0"/>
                <a:ea typeface="Calibri" pitchFamily="34" charset="-122"/>
                <a:cs typeface="Calibri" pitchFamily="34" charset="-120"/>
              </a:rPr>
              <a:t>Reducir el abandono terapéutico, asegurando que ninguna molestia o período de inactividad quede sin seguimiento.</a:t>
            </a:r>
            <a:endParaRPr lang="es-CL" sz="1900" noProof="0" dirty="0"/>
          </a:p>
        </p:txBody>
      </p:sp>
      <p:sp>
        <p:nvSpPr>
          <p:cNvPr id="24" name="Text 22"/>
          <p:cNvSpPr txBox="1"/>
          <p:nvPr/>
        </p:nvSpPr>
        <p:spPr>
          <a:xfrm>
            <a:off x="11338560" y="6537960"/>
            <a:ext cx="457200" cy="274320"/>
          </a:xfrm>
          <a:prstGeom prst="rect">
            <a:avLst/>
          </a:prstGeom>
          <a:noFill/>
          <a:ln/>
        </p:spPr>
        <p:txBody>
          <a:bodyPr wrap="square" lIns="0" tIns="0" rIns="0" bIns="0" rtlCol="0" anchor="ctr"/>
          <a:lstStyle/>
          <a:p>
            <a:pPr marL="0" indent="0" algn="r">
              <a:buNone/>
            </a:pPr>
            <a:r>
              <a:rPr lang="es-CL" sz="1000" noProof="0" dirty="0">
                <a:solidFill>
                  <a:srgbClr val="5C7A7D"/>
                </a:solidFill>
                <a:latin typeface="Calibri" pitchFamily="34" charset="0"/>
                <a:ea typeface="Calibri" pitchFamily="34" charset="-122"/>
                <a:cs typeface="Calibri" pitchFamily="34" charset="-120"/>
              </a:rPr>
              <a:t>2</a:t>
            </a:r>
            <a:endParaRPr lang="es-CL" sz="1000" noProof="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FF4F3"/>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64240" cy="822960"/>
          </a:xfrm>
          <a:prstGeom prst="rect">
            <a:avLst/>
          </a:prstGeom>
          <a:noFill/>
          <a:ln/>
        </p:spPr>
        <p:txBody>
          <a:bodyPr wrap="square" lIns="0" tIns="0" rIns="0" bIns="0" rtlCol="0" anchor="ctr"/>
          <a:lstStyle/>
          <a:p>
            <a:pPr marL="0" indent="0" algn="l">
              <a:buNone/>
            </a:pPr>
            <a:r>
              <a:rPr lang="es-CL" sz="3200" b="1" noProof="0" dirty="0">
                <a:solidFill>
                  <a:srgbClr val="0F6D7A"/>
                </a:solidFill>
                <a:latin typeface="Calibri" pitchFamily="34" charset="0"/>
                <a:ea typeface="Calibri" pitchFamily="34" charset="-122"/>
                <a:cs typeface="Calibri" pitchFamily="34" charset="-120"/>
              </a:rPr>
              <a:t>Problemática</a:t>
            </a:r>
            <a:endParaRPr lang="es-CL" sz="3200" noProof="0" dirty="0"/>
          </a:p>
        </p:txBody>
      </p:sp>
      <p:sp>
        <p:nvSpPr>
          <p:cNvPr id="3" name="Shape 1">
            <a:extLst>
              <a:ext uri="{C183D7F6-B498-43B3-948B-1728B52AA6E4}">
                <adec:decorative xmlns:adec="http://schemas.microsoft.com/office/drawing/2017/decorative" val="1"/>
              </a:ext>
            </a:extLst>
          </p:cNvPr>
          <p:cNvSpPr/>
          <p:nvPr/>
        </p:nvSpPr>
        <p:spPr>
          <a:xfrm>
            <a:off x="548640" y="1463040"/>
            <a:ext cx="6492240" cy="4709160"/>
          </a:xfrm>
          <a:prstGeom prst="roundRect">
            <a:avLst>
              <a:gd name="adj" fmla="val 2330"/>
            </a:avLst>
          </a:prstGeom>
          <a:solidFill>
            <a:srgbClr val="FFFFFF"/>
          </a:solidFill>
          <a:ln/>
        </p:spPr>
        <p:txBody>
          <a:bodyPr/>
          <a:lstStyle/>
          <a:p>
            <a:endParaRPr lang="es-CL" noProof="0" dirty="0"/>
          </a:p>
        </p:txBody>
      </p:sp>
      <p:sp>
        <p:nvSpPr>
          <p:cNvPr id="4" name="Text 2"/>
          <p:cNvSpPr txBox="1"/>
          <p:nvPr/>
        </p:nvSpPr>
        <p:spPr>
          <a:xfrm>
            <a:off x="914400" y="1737360"/>
            <a:ext cx="5852160" cy="4206240"/>
          </a:xfrm>
          <a:prstGeom prst="rect">
            <a:avLst/>
          </a:prstGeom>
          <a:noFill/>
          <a:ln/>
        </p:spPr>
        <p:txBody>
          <a:bodyPr wrap="square" lIns="0" tIns="0" rIns="0" bIns="0" rtlCol="0" anchor="t"/>
          <a:lstStyle/>
          <a:p>
            <a:pPr marL="342900" indent="-342900">
              <a:spcAft>
                <a:spcPts val="1200"/>
              </a:spcAft>
              <a:buSzPct val="100000"/>
              <a:buFont typeface="+mj-lt"/>
              <a:buAutoNum type="arabicPeriod"/>
            </a:pPr>
            <a:r>
              <a:rPr lang="es-CL" sz="1600" noProof="0" dirty="0">
                <a:solidFill>
                  <a:srgbClr val="1F3A3D"/>
                </a:solidFill>
                <a:latin typeface="Calibri" pitchFamily="34" charset="0"/>
                <a:ea typeface="Calibri" pitchFamily="34" charset="-122"/>
                <a:cs typeface="Calibri" pitchFamily="34" charset="-120"/>
              </a:rPr>
              <a:t>Los ejercicios domiciliarios se entregan impresos en papel, sin visibilidad real para el kinesiólogo sobre si el paciente los realiza.</a:t>
            </a:r>
            <a:endParaRPr lang="es-CL" sz="1600" noProof="0" dirty="0"/>
          </a:p>
          <a:p>
            <a:pPr marL="342900" indent="-342900">
              <a:spcAft>
                <a:spcPts val="1200"/>
              </a:spcAft>
              <a:buSzPct val="100000"/>
              <a:buFont typeface="+mj-lt"/>
              <a:buAutoNum type="arabicPeriod"/>
            </a:pPr>
            <a:r>
              <a:rPr lang="es-CL" sz="1600" noProof="0" dirty="0">
                <a:solidFill>
                  <a:srgbClr val="1F3A3D"/>
                </a:solidFill>
                <a:latin typeface="Calibri" pitchFamily="34" charset="0"/>
                <a:ea typeface="Calibri" pitchFamily="34" charset="-122"/>
                <a:cs typeface="Calibri" pitchFamily="34" charset="-120"/>
              </a:rPr>
              <a:t>No es solo un problema de organización: es de adherencia conductual. El paciente suele volver meses después con los mismos dolores.</a:t>
            </a:r>
            <a:endParaRPr lang="es-CL" sz="1600" noProof="0" dirty="0"/>
          </a:p>
          <a:p>
            <a:pPr marL="342900" indent="-342900">
              <a:spcAft>
                <a:spcPts val="1200"/>
              </a:spcAft>
              <a:buSzPct val="100000"/>
              <a:buFont typeface="+mj-lt"/>
              <a:buAutoNum type="arabicPeriod"/>
            </a:pPr>
            <a:r>
              <a:rPr lang="es-CL" sz="1600" noProof="0" dirty="0">
                <a:solidFill>
                  <a:srgbClr val="1F3A3D"/>
                </a:solidFill>
                <a:latin typeface="Calibri" pitchFamily="34" charset="0"/>
                <a:ea typeface="Calibri" pitchFamily="34" charset="-122"/>
                <a:cs typeface="Calibri" pitchFamily="34" charset="-120"/>
              </a:rPr>
              <a:t>En centros con más de un profesional, la falta de un sistema centralizado impide que Coordinación vea el estado de toda la cartera de pacientes.</a:t>
            </a:r>
            <a:endParaRPr lang="es-CL" sz="1600" noProof="0" dirty="0"/>
          </a:p>
          <a:p>
            <a:pPr marL="342900" indent="-342900">
              <a:spcAft>
                <a:spcPts val="1200"/>
              </a:spcAft>
              <a:buSzPct val="100000"/>
              <a:buFont typeface="+mj-lt"/>
              <a:buAutoNum type="arabicPeriod"/>
            </a:pPr>
            <a:r>
              <a:rPr lang="es-CL" sz="1600" noProof="0" dirty="0">
                <a:solidFill>
                  <a:srgbClr val="1F3A3D"/>
                </a:solidFill>
                <a:latin typeface="Calibri" pitchFamily="34" charset="0"/>
                <a:ea typeface="Calibri" pitchFamily="34" charset="-122"/>
                <a:cs typeface="Calibri" pitchFamily="34" charset="-120"/>
              </a:rPr>
              <a:t>Las molestias o períodos de inactividad no se detectan a tiempo, lo que deriva en altas tasas de abandono del tratamiento.</a:t>
            </a:r>
            <a:endParaRPr lang="es-CL" sz="1600" noProof="0" dirty="0"/>
          </a:p>
          <a:p>
            <a:pPr marL="342900" indent="-342900">
              <a:spcAft>
                <a:spcPts val="1200"/>
              </a:spcAft>
              <a:buSzPct val="100000"/>
              <a:buFont typeface="+mj-lt"/>
              <a:buAutoNum type="arabicPeriod"/>
            </a:pPr>
            <a:r>
              <a:rPr lang="es-CL" sz="1600" noProof="0" dirty="0">
                <a:solidFill>
                  <a:srgbClr val="1F3A3D"/>
                </a:solidFill>
                <a:latin typeface="Calibri" pitchFamily="34" charset="0"/>
                <a:ea typeface="Calibri" pitchFamily="34" charset="-122"/>
                <a:cs typeface="Calibri" pitchFamily="34" charset="-120"/>
              </a:rPr>
              <a:t>No existe información agregada que permita identificar patrones de abandono por tipo de diagnóstico.</a:t>
            </a:r>
          </a:p>
          <a:p>
            <a:pPr marL="342900" indent="-342900">
              <a:spcAft>
                <a:spcPts val="1200"/>
              </a:spcAft>
              <a:buSzPct val="100000"/>
              <a:buFont typeface="+mj-lt"/>
              <a:buAutoNum type="arabicPeriod"/>
            </a:pPr>
            <a:r>
              <a:rPr lang="es-CL" sz="1600" noProof="0" dirty="0">
                <a:solidFill>
                  <a:srgbClr val="1F3A3D"/>
                </a:solidFill>
                <a:latin typeface="Calibri" pitchFamily="34" charset="0"/>
                <a:ea typeface="Calibri" pitchFamily="34" charset="-122"/>
                <a:cs typeface="Calibri" pitchFamily="34" charset="-120"/>
              </a:rPr>
              <a:t>Pacientes no llegan a sus consultas por motivo de localización, dejando así el tratamiento.</a:t>
            </a:r>
          </a:p>
          <a:p>
            <a:pPr marL="342900" indent="-342900">
              <a:spcAft>
                <a:spcPts val="1200"/>
              </a:spcAft>
              <a:buSzPct val="100000"/>
              <a:buFont typeface="+mj-lt"/>
              <a:buAutoNum type="arabicPeriod"/>
            </a:pPr>
            <a:endParaRPr lang="es-CL" sz="1450" noProof="0" dirty="0">
              <a:solidFill>
                <a:srgbClr val="1F3A3D"/>
              </a:solidFill>
              <a:latin typeface="Calibri" pitchFamily="34" charset="0"/>
              <a:ea typeface="Calibri" pitchFamily="34" charset="-122"/>
              <a:cs typeface="Calibri" pitchFamily="34" charset="-120"/>
            </a:endParaRPr>
          </a:p>
          <a:p>
            <a:pPr>
              <a:spcAft>
                <a:spcPts val="1200"/>
              </a:spcAft>
              <a:buSzPct val="100000"/>
            </a:pPr>
            <a:endParaRPr lang="es-CL" sz="1450" noProof="0" dirty="0"/>
          </a:p>
        </p:txBody>
      </p:sp>
      <p:sp>
        <p:nvSpPr>
          <p:cNvPr id="5" name="Shape 3">
            <a:extLst>
              <a:ext uri="{C183D7F6-B498-43B3-948B-1728B52AA6E4}">
                <adec:decorative xmlns:adec="http://schemas.microsoft.com/office/drawing/2017/decorative" val="1"/>
              </a:ext>
            </a:extLst>
          </p:cNvPr>
          <p:cNvSpPr/>
          <p:nvPr/>
        </p:nvSpPr>
        <p:spPr>
          <a:xfrm>
            <a:off x="7315200" y="1463040"/>
            <a:ext cx="4343400" cy="4709160"/>
          </a:xfrm>
          <a:prstGeom prst="roundRect">
            <a:avLst>
              <a:gd name="adj" fmla="val 2526"/>
            </a:avLst>
          </a:prstGeom>
          <a:solidFill>
            <a:srgbClr val="0F6D7A"/>
          </a:solidFill>
          <a:ln/>
        </p:spPr>
        <p:txBody>
          <a:bodyPr/>
          <a:lstStyle/>
          <a:p>
            <a:endParaRPr lang="es-CL" noProof="0" dirty="0"/>
          </a:p>
        </p:txBody>
      </p:sp>
      <p:pic>
        <p:nvPicPr>
          <p:cNvPr id="6" name="Image 0" descr="icons/patient_white.png"/>
          <p:cNvPicPr>
            <a:picLocks noChangeAspect="1"/>
          </p:cNvPicPr>
          <p:nvPr/>
        </p:nvPicPr>
        <p:blipFill>
          <a:blip r:embed="rId3"/>
          <a:stretch>
            <a:fillRect/>
          </a:stretch>
        </p:blipFill>
        <p:spPr>
          <a:xfrm>
            <a:off x="9052560" y="1920240"/>
            <a:ext cx="914400" cy="914400"/>
          </a:xfrm>
          <a:prstGeom prst="rect">
            <a:avLst/>
          </a:prstGeom>
        </p:spPr>
      </p:pic>
      <p:sp>
        <p:nvSpPr>
          <p:cNvPr id="7" name="Text 4"/>
          <p:cNvSpPr txBox="1"/>
          <p:nvPr/>
        </p:nvSpPr>
        <p:spPr>
          <a:xfrm>
            <a:off x="7680960" y="2971800"/>
            <a:ext cx="3429000" cy="1188720"/>
          </a:xfrm>
          <a:prstGeom prst="rect">
            <a:avLst/>
          </a:prstGeom>
          <a:noFill/>
          <a:ln/>
        </p:spPr>
        <p:txBody>
          <a:bodyPr wrap="square" lIns="0" tIns="0" rIns="0" bIns="0" rtlCol="0" anchor="ctr"/>
          <a:lstStyle/>
          <a:p>
            <a:pPr marL="0" indent="0" algn="ctr">
              <a:buNone/>
            </a:pPr>
            <a:r>
              <a:rPr lang="es-CL" sz="1300" noProof="0" dirty="0">
                <a:solidFill>
                  <a:srgbClr val="FFFFFF"/>
                </a:solidFill>
                <a:latin typeface="Calibri" pitchFamily="34" charset="0"/>
                <a:ea typeface="Calibri" pitchFamily="34" charset="-122"/>
                <a:cs typeface="Calibri" pitchFamily="34" charset="-120"/>
              </a:rPr>
              <a:t>Personas de mayor edad, para quienes la tecnología puede ser una barrera si no está bien diseñada.</a:t>
            </a:r>
            <a:endParaRPr lang="es-CL" sz="1300" noProof="0" dirty="0"/>
          </a:p>
        </p:txBody>
      </p:sp>
      <p:pic>
        <p:nvPicPr>
          <p:cNvPr id="8" name="Image 1" descr="icons/coord_white.png"/>
          <p:cNvPicPr>
            <a:picLocks noChangeAspect="1"/>
          </p:cNvPicPr>
          <p:nvPr/>
        </p:nvPicPr>
        <p:blipFill>
          <a:blip r:embed="rId4"/>
          <a:stretch>
            <a:fillRect/>
          </a:stretch>
        </p:blipFill>
        <p:spPr>
          <a:xfrm>
            <a:off x="9052560" y="4343400"/>
            <a:ext cx="914400" cy="914400"/>
          </a:xfrm>
          <a:prstGeom prst="rect">
            <a:avLst/>
          </a:prstGeom>
        </p:spPr>
      </p:pic>
      <p:sp>
        <p:nvSpPr>
          <p:cNvPr id="9" name="Text 5"/>
          <p:cNvSpPr txBox="1"/>
          <p:nvPr/>
        </p:nvSpPr>
        <p:spPr>
          <a:xfrm>
            <a:off x="7680960" y="5349240"/>
            <a:ext cx="3429000" cy="731520"/>
          </a:xfrm>
          <a:prstGeom prst="rect">
            <a:avLst/>
          </a:prstGeom>
          <a:noFill/>
          <a:ln/>
        </p:spPr>
        <p:txBody>
          <a:bodyPr wrap="square" lIns="0" tIns="0" rIns="0" bIns="0" rtlCol="0" anchor="ctr"/>
          <a:lstStyle/>
          <a:p>
            <a:pPr marL="0" indent="0" algn="ctr">
              <a:buNone/>
            </a:pPr>
            <a:r>
              <a:rPr lang="es-CL" sz="1300" noProof="0" dirty="0">
                <a:solidFill>
                  <a:srgbClr val="FFFFFF"/>
                </a:solidFill>
                <a:latin typeface="Calibri" pitchFamily="34" charset="0"/>
                <a:ea typeface="Calibri" pitchFamily="34" charset="-122"/>
                <a:cs typeface="Calibri" pitchFamily="34" charset="-120"/>
              </a:rPr>
              <a:t>Coordinación sin visibilidad agregada del estado de sus pacientes.</a:t>
            </a:r>
            <a:endParaRPr lang="es-CL" sz="1300" noProof="0" dirty="0"/>
          </a:p>
        </p:txBody>
      </p:sp>
      <p:sp>
        <p:nvSpPr>
          <p:cNvPr id="10" name="Text 6"/>
          <p:cNvSpPr txBox="1"/>
          <p:nvPr/>
        </p:nvSpPr>
        <p:spPr>
          <a:xfrm>
            <a:off x="548640" y="6537960"/>
            <a:ext cx="5486400" cy="274320"/>
          </a:xfrm>
          <a:prstGeom prst="rect">
            <a:avLst/>
          </a:prstGeom>
          <a:noFill/>
          <a:ln/>
        </p:spPr>
        <p:txBody>
          <a:bodyPr wrap="square" lIns="0" tIns="0" rIns="0" bIns="0" rtlCol="0" anchor="ctr"/>
          <a:lstStyle/>
          <a:p>
            <a:pPr marL="0" indent="0">
              <a:buNone/>
            </a:pPr>
            <a:r>
              <a:rPr lang="es-CL" sz="1000" noProof="0" dirty="0" err="1">
                <a:solidFill>
                  <a:srgbClr val="5C7A7D"/>
                </a:solidFill>
                <a:latin typeface="Calibri" pitchFamily="34" charset="0"/>
                <a:ea typeface="Calibri" pitchFamily="34" charset="-122"/>
                <a:cs typeface="Calibri" pitchFamily="34" charset="-120"/>
              </a:rPr>
              <a:t>KineTrack</a:t>
            </a:r>
            <a:r>
              <a:rPr lang="es-CL" sz="1000" noProof="0" dirty="0">
                <a:solidFill>
                  <a:srgbClr val="5C7A7D"/>
                </a:solidFill>
                <a:latin typeface="Calibri" pitchFamily="34" charset="0"/>
                <a:ea typeface="Calibri" pitchFamily="34" charset="-122"/>
                <a:cs typeface="Calibri" pitchFamily="34" charset="-120"/>
              </a:rPr>
              <a:t> — Proyecto APT</a:t>
            </a:r>
            <a:endParaRPr lang="es-CL" sz="1000" noProof="0" dirty="0"/>
          </a:p>
        </p:txBody>
      </p:sp>
      <p:sp>
        <p:nvSpPr>
          <p:cNvPr id="11" name="Text 7"/>
          <p:cNvSpPr txBox="1"/>
          <p:nvPr/>
        </p:nvSpPr>
        <p:spPr>
          <a:xfrm>
            <a:off x="11338560" y="6537960"/>
            <a:ext cx="457200" cy="274320"/>
          </a:xfrm>
          <a:prstGeom prst="rect">
            <a:avLst/>
          </a:prstGeom>
          <a:noFill/>
          <a:ln/>
        </p:spPr>
        <p:txBody>
          <a:bodyPr wrap="square" lIns="0" tIns="0" rIns="0" bIns="0" rtlCol="0" anchor="ctr"/>
          <a:lstStyle/>
          <a:p>
            <a:pPr marL="0" indent="0" algn="r">
              <a:buNone/>
            </a:pPr>
            <a:r>
              <a:rPr lang="es-CL" sz="1000" noProof="0" dirty="0">
                <a:solidFill>
                  <a:srgbClr val="5C7A7D"/>
                </a:solidFill>
                <a:latin typeface="Calibri" pitchFamily="34" charset="0"/>
                <a:ea typeface="Calibri" pitchFamily="34" charset="-122"/>
                <a:cs typeface="Calibri" pitchFamily="34" charset="-120"/>
              </a:rPr>
              <a:t>3</a:t>
            </a:r>
            <a:endParaRPr lang="es-CL" sz="1000" noProof="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FF4F3"/>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64240" cy="822960"/>
          </a:xfrm>
          <a:prstGeom prst="rect">
            <a:avLst/>
          </a:prstGeom>
          <a:noFill/>
          <a:ln/>
        </p:spPr>
        <p:txBody>
          <a:bodyPr wrap="square" lIns="0" tIns="0" rIns="0" bIns="0" rtlCol="0" anchor="ctr"/>
          <a:lstStyle/>
          <a:p>
            <a:pPr marL="0" indent="0" algn="l">
              <a:buNone/>
            </a:pPr>
            <a:r>
              <a:rPr lang="es-CL" sz="3200" b="1" noProof="0" dirty="0">
                <a:solidFill>
                  <a:srgbClr val="0F6D7A"/>
                </a:solidFill>
                <a:latin typeface="Calibri" pitchFamily="34" charset="0"/>
                <a:ea typeface="Calibri" pitchFamily="34" charset="-122"/>
                <a:cs typeface="Calibri" pitchFamily="34" charset="-120"/>
              </a:rPr>
              <a:t>Propuesta de Solución</a:t>
            </a:r>
            <a:endParaRPr lang="es-CL" sz="3200" noProof="0" dirty="0"/>
          </a:p>
        </p:txBody>
      </p:sp>
      <p:sp>
        <p:nvSpPr>
          <p:cNvPr id="3" name="Shape 1">
            <a:extLst>
              <a:ext uri="{C183D7F6-B498-43B3-948B-1728B52AA6E4}">
                <adec:decorative xmlns:adec="http://schemas.microsoft.com/office/drawing/2017/decorative" val="1"/>
              </a:ext>
            </a:extLst>
          </p:cNvPr>
          <p:cNvSpPr/>
          <p:nvPr/>
        </p:nvSpPr>
        <p:spPr>
          <a:xfrm>
            <a:off x="548640" y="1554480"/>
            <a:ext cx="2606040" cy="4480560"/>
          </a:xfrm>
          <a:prstGeom prst="roundRect">
            <a:avLst>
              <a:gd name="adj" fmla="val 4211"/>
            </a:avLst>
          </a:prstGeom>
          <a:solidFill>
            <a:srgbClr val="FFFFFF"/>
          </a:solidFill>
          <a:ln/>
          <a:effectLst>
            <a:outerShdw blurRad="63500" dist="25400" dir="5400000" algn="bl" rotWithShape="0">
              <a:srgbClr val="1F3A3D">
                <a:alpha val="12000"/>
              </a:srgbClr>
            </a:outerShdw>
          </a:effectLst>
        </p:spPr>
        <p:txBody>
          <a:bodyPr/>
          <a:lstStyle/>
          <a:p>
            <a:endParaRPr lang="es-CL" noProof="0" dirty="0"/>
          </a:p>
        </p:txBody>
      </p:sp>
      <p:sp>
        <p:nvSpPr>
          <p:cNvPr id="4" name="Shape 2">
            <a:extLst>
              <a:ext uri="{C183D7F6-B498-43B3-948B-1728B52AA6E4}">
                <adec:decorative xmlns:adec="http://schemas.microsoft.com/office/drawing/2017/decorative" val="1"/>
              </a:ext>
            </a:extLst>
          </p:cNvPr>
          <p:cNvSpPr/>
          <p:nvPr/>
        </p:nvSpPr>
        <p:spPr>
          <a:xfrm>
            <a:off x="1394460" y="1874520"/>
            <a:ext cx="914400" cy="914400"/>
          </a:xfrm>
          <a:prstGeom prst="ellipse">
            <a:avLst/>
          </a:prstGeom>
          <a:solidFill>
            <a:srgbClr val="FBE3DC"/>
          </a:solidFill>
          <a:ln/>
        </p:spPr>
        <p:txBody>
          <a:bodyPr/>
          <a:lstStyle/>
          <a:p>
            <a:endParaRPr lang="es-CL" noProof="0" dirty="0"/>
          </a:p>
        </p:txBody>
      </p:sp>
      <p:pic>
        <p:nvPicPr>
          <p:cNvPr id="5" name="Image 0" descr="icons/doctor.png"/>
          <p:cNvPicPr>
            <a:picLocks noChangeAspect="1"/>
          </p:cNvPicPr>
          <p:nvPr/>
        </p:nvPicPr>
        <p:blipFill>
          <a:blip r:embed="rId3"/>
          <a:stretch>
            <a:fillRect/>
          </a:stretch>
        </p:blipFill>
        <p:spPr>
          <a:xfrm>
            <a:off x="1600200" y="2103120"/>
            <a:ext cx="502920" cy="502920"/>
          </a:xfrm>
          <a:prstGeom prst="rect">
            <a:avLst/>
          </a:prstGeom>
        </p:spPr>
      </p:pic>
      <p:sp>
        <p:nvSpPr>
          <p:cNvPr id="6" name="Text 3"/>
          <p:cNvSpPr txBox="1"/>
          <p:nvPr/>
        </p:nvSpPr>
        <p:spPr>
          <a:xfrm>
            <a:off x="731520" y="2971800"/>
            <a:ext cx="2240280" cy="548640"/>
          </a:xfrm>
          <a:prstGeom prst="rect">
            <a:avLst/>
          </a:prstGeom>
          <a:noFill/>
          <a:ln/>
        </p:spPr>
        <p:txBody>
          <a:bodyPr wrap="square" lIns="0" tIns="0" rIns="0" bIns="0" rtlCol="0" anchor="ctr"/>
          <a:lstStyle/>
          <a:p>
            <a:pPr marL="0" indent="0" algn="ctr">
              <a:buNone/>
            </a:pPr>
            <a:r>
              <a:rPr lang="es-CL" sz="1500" b="1" noProof="0" dirty="0">
                <a:solidFill>
                  <a:srgbClr val="0F6D7A"/>
                </a:solidFill>
                <a:latin typeface="Calibri" pitchFamily="34" charset="0"/>
                <a:ea typeface="Calibri" pitchFamily="34" charset="-122"/>
                <a:cs typeface="Calibri" pitchFamily="34" charset="-120"/>
              </a:rPr>
              <a:t>4 Perfiles</a:t>
            </a:r>
            <a:endParaRPr lang="es-CL" sz="1500" noProof="0" dirty="0"/>
          </a:p>
        </p:txBody>
      </p:sp>
      <p:sp>
        <p:nvSpPr>
          <p:cNvPr id="7" name="Text 4"/>
          <p:cNvSpPr txBox="1"/>
          <p:nvPr/>
        </p:nvSpPr>
        <p:spPr>
          <a:xfrm>
            <a:off x="731520" y="3566160"/>
            <a:ext cx="2240280" cy="2286000"/>
          </a:xfrm>
          <a:prstGeom prst="rect">
            <a:avLst/>
          </a:prstGeom>
          <a:noFill/>
          <a:ln/>
        </p:spPr>
        <p:txBody>
          <a:bodyPr wrap="square" lIns="0" tIns="0" rIns="0" bIns="0" rtlCol="0" anchor="t"/>
          <a:lstStyle/>
          <a:p>
            <a:pPr marL="0" indent="0" algn="ctr">
              <a:buNone/>
            </a:pPr>
            <a:r>
              <a:rPr lang="es-CL" noProof="0" dirty="0">
                <a:solidFill>
                  <a:srgbClr val="1F3A3D"/>
                </a:solidFill>
                <a:latin typeface="Calibri" pitchFamily="34" charset="0"/>
                <a:ea typeface="Calibri" pitchFamily="34" charset="-122"/>
                <a:cs typeface="Calibri" pitchFamily="34" charset="-120"/>
              </a:rPr>
              <a:t>Paciente, Kinesiólogo, Coordinación y Administrador, cada uno con su flujo dentro de la plataforma.</a:t>
            </a:r>
            <a:endParaRPr lang="es-CL" noProof="0" dirty="0"/>
          </a:p>
        </p:txBody>
      </p:sp>
      <p:sp>
        <p:nvSpPr>
          <p:cNvPr id="8" name="Shape 5">
            <a:extLst>
              <a:ext uri="{C183D7F6-B498-43B3-948B-1728B52AA6E4}">
                <adec:decorative xmlns:adec="http://schemas.microsoft.com/office/drawing/2017/decorative" val="1"/>
              </a:ext>
            </a:extLst>
          </p:cNvPr>
          <p:cNvSpPr/>
          <p:nvPr/>
        </p:nvSpPr>
        <p:spPr>
          <a:xfrm>
            <a:off x="3337560" y="1554480"/>
            <a:ext cx="2606040" cy="4480560"/>
          </a:xfrm>
          <a:prstGeom prst="roundRect">
            <a:avLst>
              <a:gd name="adj" fmla="val 4211"/>
            </a:avLst>
          </a:prstGeom>
          <a:solidFill>
            <a:srgbClr val="FFFFFF"/>
          </a:solidFill>
          <a:ln/>
          <a:effectLst>
            <a:outerShdw blurRad="63500" dist="25400" dir="5400000" algn="bl" rotWithShape="0">
              <a:srgbClr val="1F3A3D">
                <a:alpha val="12000"/>
              </a:srgbClr>
            </a:outerShdw>
          </a:effectLst>
        </p:spPr>
        <p:txBody>
          <a:bodyPr/>
          <a:lstStyle/>
          <a:p>
            <a:endParaRPr lang="es-CL" noProof="0" dirty="0"/>
          </a:p>
        </p:txBody>
      </p:sp>
      <p:sp>
        <p:nvSpPr>
          <p:cNvPr id="9" name="Shape 6">
            <a:extLst>
              <a:ext uri="{C183D7F6-B498-43B3-948B-1728B52AA6E4}">
                <adec:decorative xmlns:adec="http://schemas.microsoft.com/office/drawing/2017/decorative" val="1"/>
              </a:ext>
            </a:extLst>
          </p:cNvPr>
          <p:cNvSpPr/>
          <p:nvPr/>
        </p:nvSpPr>
        <p:spPr>
          <a:xfrm>
            <a:off x="4183380" y="1874520"/>
            <a:ext cx="914400" cy="914400"/>
          </a:xfrm>
          <a:prstGeom prst="ellipse">
            <a:avLst/>
          </a:prstGeom>
          <a:solidFill>
            <a:srgbClr val="FBE3DC"/>
          </a:solidFill>
          <a:ln/>
        </p:spPr>
        <p:txBody>
          <a:bodyPr/>
          <a:lstStyle/>
          <a:p>
            <a:endParaRPr lang="es-CL" noProof="0" dirty="0"/>
          </a:p>
        </p:txBody>
      </p:sp>
      <p:pic>
        <p:nvPicPr>
          <p:cNvPr id="10" name="Image 1" descr="icons/bell.png"/>
          <p:cNvPicPr>
            <a:picLocks noChangeAspect="1"/>
          </p:cNvPicPr>
          <p:nvPr/>
        </p:nvPicPr>
        <p:blipFill>
          <a:blip r:embed="rId4"/>
          <a:stretch>
            <a:fillRect/>
          </a:stretch>
        </p:blipFill>
        <p:spPr>
          <a:xfrm>
            <a:off x="4389120" y="2103120"/>
            <a:ext cx="502920" cy="502920"/>
          </a:xfrm>
          <a:prstGeom prst="rect">
            <a:avLst/>
          </a:prstGeom>
        </p:spPr>
      </p:pic>
      <p:sp>
        <p:nvSpPr>
          <p:cNvPr id="11" name="Text 7"/>
          <p:cNvSpPr txBox="1"/>
          <p:nvPr/>
        </p:nvSpPr>
        <p:spPr>
          <a:xfrm>
            <a:off x="3520440" y="2971800"/>
            <a:ext cx="2240280" cy="548640"/>
          </a:xfrm>
          <a:prstGeom prst="rect">
            <a:avLst/>
          </a:prstGeom>
          <a:noFill/>
          <a:ln/>
        </p:spPr>
        <p:txBody>
          <a:bodyPr wrap="square" lIns="0" tIns="0" rIns="0" bIns="0" rtlCol="0" anchor="ctr"/>
          <a:lstStyle/>
          <a:p>
            <a:pPr marL="0" indent="0" algn="ctr">
              <a:buNone/>
            </a:pPr>
            <a:r>
              <a:rPr lang="es-CL" sz="1500" b="1" noProof="0" dirty="0">
                <a:solidFill>
                  <a:srgbClr val="0F6D7A"/>
                </a:solidFill>
                <a:latin typeface="Calibri" pitchFamily="34" charset="0"/>
                <a:ea typeface="Calibri" pitchFamily="34" charset="-122"/>
                <a:cs typeface="Calibri" pitchFamily="34" charset="-120"/>
              </a:rPr>
              <a:t>Alertas de Seguimiento</a:t>
            </a:r>
            <a:endParaRPr lang="es-CL" sz="1500" noProof="0" dirty="0"/>
          </a:p>
        </p:txBody>
      </p:sp>
      <p:sp>
        <p:nvSpPr>
          <p:cNvPr id="12" name="Text 8"/>
          <p:cNvSpPr txBox="1"/>
          <p:nvPr/>
        </p:nvSpPr>
        <p:spPr>
          <a:xfrm>
            <a:off x="3520440" y="3566160"/>
            <a:ext cx="2240280" cy="2286000"/>
          </a:xfrm>
          <a:prstGeom prst="rect">
            <a:avLst/>
          </a:prstGeom>
          <a:noFill/>
          <a:ln/>
        </p:spPr>
        <p:txBody>
          <a:bodyPr wrap="square" lIns="0" tIns="0" rIns="0" bIns="0" rtlCol="0" anchor="t"/>
          <a:lstStyle/>
          <a:p>
            <a:pPr marL="0" indent="0" algn="ctr">
              <a:buNone/>
            </a:pPr>
            <a:r>
              <a:rPr lang="es-CL" noProof="0" dirty="0">
                <a:solidFill>
                  <a:srgbClr val="1F3A3D"/>
                </a:solidFill>
                <a:latin typeface="Calibri" pitchFamily="34" charset="0"/>
                <a:ea typeface="Calibri" pitchFamily="34" charset="-122"/>
                <a:cs typeface="Calibri" pitchFamily="34" charset="-120"/>
              </a:rPr>
              <a:t>Notificación inmediata por molestia (EVA) o inactividad, con escalamiento automático a Coordinación.</a:t>
            </a:r>
            <a:endParaRPr lang="es-CL" noProof="0" dirty="0"/>
          </a:p>
        </p:txBody>
      </p:sp>
      <p:sp>
        <p:nvSpPr>
          <p:cNvPr id="13" name="Shape 9">
            <a:extLst>
              <a:ext uri="{C183D7F6-B498-43B3-948B-1728B52AA6E4}">
                <adec:decorative xmlns:adec="http://schemas.microsoft.com/office/drawing/2017/decorative" val="1"/>
              </a:ext>
            </a:extLst>
          </p:cNvPr>
          <p:cNvSpPr/>
          <p:nvPr/>
        </p:nvSpPr>
        <p:spPr>
          <a:xfrm>
            <a:off x="6126480" y="1554480"/>
            <a:ext cx="2606040" cy="4480560"/>
          </a:xfrm>
          <a:prstGeom prst="roundRect">
            <a:avLst>
              <a:gd name="adj" fmla="val 4211"/>
            </a:avLst>
          </a:prstGeom>
          <a:solidFill>
            <a:srgbClr val="FFFFFF"/>
          </a:solidFill>
          <a:ln/>
          <a:effectLst>
            <a:outerShdw blurRad="63500" dist="25400" dir="5400000" algn="bl" rotWithShape="0">
              <a:srgbClr val="1F3A3D">
                <a:alpha val="12000"/>
              </a:srgbClr>
            </a:outerShdw>
          </a:effectLst>
        </p:spPr>
        <p:txBody>
          <a:bodyPr/>
          <a:lstStyle/>
          <a:p>
            <a:endParaRPr lang="es-CL" noProof="0" dirty="0"/>
          </a:p>
        </p:txBody>
      </p:sp>
      <p:sp>
        <p:nvSpPr>
          <p:cNvPr id="14" name="Shape 10">
            <a:extLst>
              <a:ext uri="{C183D7F6-B498-43B3-948B-1728B52AA6E4}">
                <adec:decorative xmlns:adec="http://schemas.microsoft.com/office/drawing/2017/decorative" val="1"/>
              </a:ext>
            </a:extLst>
          </p:cNvPr>
          <p:cNvSpPr/>
          <p:nvPr/>
        </p:nvSpPr>
        <p:spPr>
          <a:xfrm>
            <a:off x="6972300" y="1874520"/>
            <a:ext cx="914400" cy="914400"/>
          </a:xfrm>
          <a:prstGeom prst="ellipse">
            <a:avLst/>
          </a:prstGeom>
          <a:solidFill>
            <a:srgbClr val="FBE3DC"/>
          </a:solidFill>
          <a:ln/>
        </p:spPr>
        <p:txBody>
          <a:bodyPr/>
          <a:lstStyle/>
          <a:p>
            <a:endParaRPr lang="es-CL" noProof="0" dirty="0"/>
          </a:p>
        </p:txBody>
      </p:sp>
      <p:pic>
        <p:nvPicPr>
          <p:cNvPr id="15" name="Image 2" descr="icons/camera.png"/>
          <p:cNvPicPr>
            <a:picLocks noChangeAspect="1"/>
          </p:cNvPicPr>
          <p:nvPr/>
        </p:nvPicPr>
        <p:blipFill>
          <a:blip r:embed="rId5"/>
          <a:stretch>
            <a:fillRect/>
          </a:stretch>
        </p:blipFill>
        <p:spPr>
          <a:xfrm>
            <a:off x="7178040" y="2103120"/>
            <a:ext cx="502920" cy="502920"/>
          </a:xfrm>
          <a:prstGeom prst="rect">
            <a:avLst/>
          </a:prstGeom>
        </p:spPr>
      </p:pic>
      <p:sp>
        <p:nvSpPr>
          <p:cNvPr id="16" name="Text 11"/>
          <p:cNvSpPr txBox="1"/>
          <p:nvPr/>
        </p:nvSpPr>
        <p:spPr>
          <a:xfrm>
            <a:off x="6309360" y="2971800"/>
            <a:ext cx="2240280" cy="548640"/>
          </a:xfrm>
          <a:prstGeom prst="rect">
            <a:avLst/>
          </a:prstGeom>
          <a:noFill/>
          <a:ln/>
        </p:spPr>
        <p:txBody>
          <a:bodyPr wrap="square" lIns="0" tIns="0" rIns="0" bIns="0" rtlCol="0" anchor="ctr"/>
          <a:lstStyle/>
          <a:p>
            <a:pPr marL="0" indent="0" algn="ctr">
              <a:buNone/>
            </a:pPr>
            <a:r>
              <a:rPr lang="es-CL" sz="1500" b="1" noProof="0" dirty="0">
                <a:solidFill>
                  <a:srgbClr val="0F6D7A"/>
                </a:solidFill>
                <a:latin typeface="Calibri" pitchFamily="34" charset="0"/>
                <a:ea typeface="Calibri" pitchFamily="34" charset="-122"/>
                <a:cs typeface="Calibri" pitchFamily="34" charset="-120"/>
              </a:rPr>
              <a:t>Visión Computacional</a:t>
            </a:r>
            <a:endParaRPr lang="es-CL" sz="1500" noProof="0" dirty="0"/>
          </a:p>
        </p:txBody>
      </p:sp>
      <p:sp>
        <p:nvSpPr>
          <p:cNvPr id="17" name="Text 12"/>
          <p:cNvSpPr txBox="1"/>
          <p:nvPr/>
        </p:nvSpPr>
        <p:spPr>
          <a:xfrm>
            <a:off x="6309360" y="3566160"/>
            <a:ext cx="2240280" cy="2286000"/>
          </a:xfrm>
          <a:prstGeom prst="rect">
            <a:avLst/>
          </a:prstGeom>
          <a:noFill/>
          <a:ln/>
        </p:spPr>
        <p:txBody>
          <a:bodyPr wrap="square" lIns="0" tIns="0" rIns="0" bIns="0" rtlCol="0" anchor="t"/>
          <a:lstStyle/>
          <a:p>
            <a:pPr marL="0" indent="0" algn="ctr">
              <a:buNone/>
            </a:pPr>
            <a:r>
              <a:rPr lang="es-CL" noProof="0" dirty="0" err="1">
                <a:solidFill>
                  <a:srgbClr val="1F3A3D"/>
                </a:solidFill>
                <a:latin typeface="Calibri" pitchFamily="34" charset="0"/>
                <a:ea typeface="Calibri" pitchFamily="34" charset="-122"/>
                <a:cs typeface="Calibri" pitchFamily="34" charset="-120"/>
              </a:rPr>
              <a:t>MediaPipe</a:t>
            </a:r>
            <a:r>
              <a:rPr lang="es-CL" noProof="0" dirty="0">
                <a:solidFill>
                  <a:srgbClr val="1F3A3D"/>
                </a:solidFill>
                <a:latin typeface="Calibri" pitchFamily="34" charset="0"/>
                <a:ea typeface="Calibri" pitchFamily="34" charset="-122"/>
                <a:cs typeface="Calibri" pitchFamily="34" charset="-120"/>
              </a:rPr>
              <a:t> procesado </a:t>
            </a:r>
            <a:r>
              <a:rPr lang="es-CL" noProof="0" dirty="0" err="1">
                <a:solidFill>
                  <a:srgbClr val="1F3A3D"/>
                </a:solidFill>
                <a:latin typeface="Calibri" pitchFamily="34" charset="0"/>
                <a:ea typeface="Calibri" pitchFamily="34" charset="-122"/>
                <a:cs typeface="Calibri" pitchFamily="34" charset="-120"/>
              </a:rPr>
              <a:t>on-device</a:t>
            </a:r>
            <a:r>
              <a:rPr lang="es-CL" noProof="0" dirty="0">
                <a:solidFill>
                  <a:srgbClr val="1F3A3D"/>
                </a:solidFill>
                <a:latin typeface="Calibri" pitchFamily="34" charset="0"/>
                <a:ea typeface="Calibri" pitchFamily="34" charset="-122"/>
                <a:cs typeface="Calibri" pitchFamily="34" charset="-120"/>
              </a:rPr>
              <a:t>: referencia visual del movimiento, sin almacenar video del paciente.</a:t>
            </a:r>
            <a:endParaRPr lang="es-CL" noProof="0" dirty="0"/>
          </a:p>
        </p:txBody>
      </p:sp>
      <p:sp>
        <p:nvSpPr>
          <p:cNvPr id="18" name="Shape 13">
            <a:extLst>
              <a:ext uri="{C183D7F6-B498-43B3-948B-1728B52AA6E4}">
                <adec:decorative xmlns:adec="http://schemas.microsoft.com/office/drawing/2017/decorative" val="1"/>
              </a:ext>
            </a:extLst>
          </p:cNvPr>
          <p:cNvSpPr/>
          <p:nvPr/>
        </p:nvSpPr>
        <p:spPr>
          <a:xfrm>
            <a:off x="8915400" y="1554480"/>
            <a:ext cx="2606040" cy="4480560"/>
          </a:xfrm>
          <a:prstGeom prst="roundRect">
            <a:avLst>
              <a:gd name="adj" fmla="val 4211"/>
            </a:avLst>
          </a:prstGeom>
          <a:solidFill>
            <a:srgbClr val="FFFFFF"/>
          </a:solidFill>
          <a:ln/>
          <a:effectLst>
            <a:outerShdw blurRad="63500" dist="25400" dir="5400000" algn="bl" rotWithShape="0">
              <a:srgbClr val="1F3A3D">
                <a:alpha val="12000"/>
              </a:srgbClr>
            </a:outerShdw>
          </a:effectLst>
        </p:spPr>
        <p:txBody>
          <a:bodyPr/>
          <a:lstStyle/>
          <a:p>
            <a:endParaRPr lang="es-CL" noProof="0" dirty="0"/>
          </a:p>
        </p:txBody>
      </p:sp>
      <p:sp>
        <p:nvSpPr>
          <p:cNvPr id="19" name="Shape 14">
            <a:extLst>
              <a:ext uri="{C183D7F6-B498-43B3-948B-1728B52AA6E4}">
                <adec:decorative xmlns:adec="http://schemas.microsoft.com/office/drawing/2017/decorative" val="1"/>
              </a:ext>
            </a:extLst>
          </p:cNvPr>
          <p:cNvSpPr/>
          <p:nvPr/>
        </p:nvSpPr>
        <p:spPr>
          <a:xfrm>
            <a:off x="9761220" y="1874520"/>
            <a:ext cx="914400" cy="914400"/>
          </a:xfrm>
          <a:prstGeom prst="ellipse">
            <a:avLst/>
          </a:prstGeom>
          <a:solidFill>
            <a:srgbClr val="FBE3DC"/>
          </a:solidFill>
          <a:ln/>
        </p:spPr>
        <p:txBody>
          <a:bodyPr/>
          <a:lstStyle/>
          <a:p>
            <a:endParaRPr lang="es-CL" noProof="0" dirty="0"/>
          </a:p>
        </p:txBody>
      </p:sp>
      <p:pic>
        <p:nvPicPr>
          <p:cNvPr id="20" name="Image 3" descr="icons/chart.png"/>
          <p:cNvPicPr>
            <a:picLocks noChangeAspect="1"/>
          </p:cNvPicPr>
          <p:nvPr/>
        </p:nvPicPr>
        <p:blipFill>
          <a:blip r:embed="rId6"/>
          <a:stretch>
            <a:fillRect/>
          </a:stretch>
        </p:blipFill>
        <p:spPr>
          <a:xfrm>
            <a:off x="9966960" y="2103120"/>
            <a:ext cx="502920" cy="502920"/>
          </a:xfrm>
          <a:prstGeom prst="rect">
            <a:avLst/>
          </a:prstGeom>
        </p:spPr>
      </p:pic>
      <p:sp>
        <p:nvSpPr>
          <p:cNvPr id="21" name="Text 15"/>
          <p:cNvSpPr txBox="1"/>
          <p:nvPr/>
        </p:nvSpPr>
        <p:spPr>
          <a:xfrm>
            <a:off x="9098280" y="2971800"/>
            <a:ext cx="2240280" cy="548640"/>
          </a:xfrm>
          <a:prstGeom prst="rect">
            <a:avLst/>
          </a:prstGeom>
          <a:noFill/>
          <a:ln/>
        </p:spPr>
        <p:txBody>
          <a:bodyPr wrap="square" lIns="0" tIns="0" rIns="0" bIns="0" rtlCol="0" anchor="ctr"/>
          <a:lstStyle/>
          <a:p>
            <a:pPr marL="0" indent="0" algn="ctr">
              <a:buNone/>
            </a:pPr>
            <a:r>
              <a:rPr lang="es-CL" sz="1500" b="1" noProof="0" dirty="0" err="1">
                <a:solidFill>
                  <a:srgbClr val="0F6D7A"/>
                </a:solidFill>
                <a:latin typeface="Calibri" pitchFamily="34" charset="0"/>
                <a:ea typeface="Calibri" pitchFamily="34" charset="-122"/>
                <a:cs typeface="Calibri" pitchFamily="34" charset="-120"/>
              </a:rPr>
              <a:t>Dashboard</a:t>
            </a:r>
            <a:r>
              <a:rPr lang="es-CL" sz="1500" b="1" noProof="0" dirty="0">
                <a:solidFill>
                  <a:srgbClr val="0F6D7A"/>
                </a:solidFill>
                <a:latin typeface="Calibri" pitchFamily="34" charset="0"/>
                <a:ea typeface="Calibri" pitchFamily="34" charset="-122"/>
                <a:cs typeface="Calibri" pitchFamily="34" charset="-120"/>
              </a:rPr>
              <a:t> Analítico</a:t>
            </a:r>
            <a:endParaRPr lang="es-CL" sz="1500" noProof="0" dirty="0"/>
          </a:p>
        </p:txBody>
      </p:sp>
      <p:sp>
        <p:nvSpPr>
          <p:cNvPr id="22" name="Text 16"/>
          <p:cNvSpPr txBox="1"/>
          <p:nvPr/>
        </p:nvSpPr>
        <p:spPr>
          <a:xfrm>
            <a:off x="9098280" y="3566160"/>
            <a:ext cx="2240280" cy="2286000"/>
          </a:xfrm>
          <a:prstGeom prst="rect">
            <a:avLst/>
          </a:prstGeom>
          <a:noFill/>
          <a:ln/>
        </p:spPr>
        <p:txBody>
          <a:bodyPr wrap="square" lIns="0" tIns="0" rIns="0" bIns="0" rtlCol="0" anchor="t"/>
          <a:lstStyle/>
          <a:p>
            <a:pPr marL="0" indent="0" algn="ctr">
              <a:buNone/>
            </a:pPr>
            <a:r>
              <a:rPr lang="es-CL" noProof="0" dirty="0">
                <a:solidFill>
                  <a:srgbClr val="1F3A3D"/>
                </a:solidFill>
                <a:latin typeface="Calibri" pitchFamily="34" charset="0"/>
                <a:ea typeface="Calibri" pitchFamily="34" charset="-122"/>
                <a:cs typeface="Calibri" pitchFamily="34" charset="-120"/>
              </a:rPr>
              <a:t>Reportería de adherencia y abandono por tipo de diagnóstico, para apoyar decisiones de gestión.</a:t>
            </a:r>
            <a:endParaRPr lang="es-CL" noProof="0" dirty="0"/>
          </a:p>
        </p:txBody>
      </p:sp>
      <p:sp>
        <p:nvSpPr>
          <p:cNvPr id="24" name="Text 18"/>
          <p:cNvSpPr txBox="1"/>
          <p:nvPr/>
        </p:nvSpPr>
        <p:spPr>
          <a:xfrm>
            <a:off x="11338560" y="6537960"/>
            <a:ext cx="457200" cy="274320"/>
          </a:xfrm>
          <a:prstGeom prst="rect">
            <a:avLst/>
          </a:prstGeom>
          <a:noFill/>
          <a:ln/>
        </p:spPr>
        <p:txBody>
          <a:bodyPr wrap="square" lIns="0" tIns="0" rIns="0" bIns="0" rtlCol="0" anchor="ctr"/>
          <a:lstStyle/>
          <a:p>
            <a:pPr marL="0" indent="0" algn="r">
              <a:buNone/>
            </a:pPr>
            <a:r>
              <a:rPr lang="es-CL" sz="1000" noProof="0" dirty="0">
                <a:solidFill>
                  <a:srgbClr val="5C7A7D"/>
                </a:solidFill>
                <a:latin typeface="Calibri" pitchFamily="34" charset="0"/>
                <a:ea typeface="Calibri" pitchFamily="34" charset="-122"/>
                <a:cs typeface="Calibri" pitchFamily="34" charset="-120"/>
              </a:rPr>
              <a:t>4</a:t>
            </a:r>
            <a:endParaRPr lang="es-CL" sz="1000" noProof="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4F52"/>
        </a:solidFill>
        <a:effectLst/>
      </p:bgPr>
    </p:bg>
    <p:spTree>
      <p:nvGrpSpPr>
        <p:cNvPr id="1" name=""/>
        <p:cNvGrpSpPr/>
        <p:nvPr/>
      </p:nvGrpSpPr>
      <p:grpSpPr>
        <a:xfrm>
          <a:off x="0" y="0"/>
          <a:ext cx="0" cy="0"/>
          <a:chOff x="0" y="0"/>
          <a:chExt cx="0" cy="0"/>
        </a:xfrm>
      </p:grpSpPr>
      <p:sp>
        <p:nvSpPr>
          <p:cNvPr id="2" name="Shape 0">
            <a:extLst>
              <a:ext uri="{C183D7F6-B498-43B3-948B-1728B52AA6E4}">
                <adec:decorative xmlns:adec="http://schemas.microsoft.com/office/drawing/2017/decorative" val="1"/>
              </a:ext>
            </a:extLst>
          </p:cNvPr>
          <p:cNvSpPr/>
          <p:nvPr/>
        </p:nvSpPr>
        <p:spPr>
          <a:xfrm>
            <a:off x="-1371600" y="-1371600"/>
            <a:ext cx="4572000" cy="4572000"/>
          </a:xfrm>
          <a:prstGeom prst="ellipse">
            <a:avLst/>
          </a:prstGeom>
          <a:solidFill>
            <a:srgbClr val="0F6D7A">
              <a:alpha val="55000"/>
            </a:srgbClr>
          </a:solidFill>
          <a:ln/>
        </p:spPr>
        <p:txBody>
          <a:bodyPr/>
          <a:lstStyle/>
          <a:p>
            <a:endParaRPr lang="es-CL" noProof="0" dirty="0"/>
          </a:p>
        </p:txBody>
      </p:sp>
      <p:sp>
        <p:nvSpPr>
          <p:cNvPr id="3" name="Shape 1">
            <a:extLst>
              <a:ext uri="{C183D7F6-B498-43B3-948B-1728B52AA6E4}">
                <adec:decorative xmlns:adec="http://schemas.microsoft.com/office/drawing/2017/decorative" val="1"/>
              </a:ext>
            </a:extLst>
          </p:cNvPr>
          <p:cNvSpPr/>
          <p:nvPr/>
        </p:nvSpPr>
        <p:spPr>
          <a:xfrm>
            <a:off x="9601200" y="4114800"/>
            <a:ext cx="4572000" cy="4572000"/>
          </a:xfrm>
          <a:prstGeom prst="ellipse">
            <a:avLst/>
          </a:prstGeom>
          <a:solidFill>
            <a:srgbClr val="14919B">
              <a:alpha val="45000"/>
            </a:srgbClr>
          </a:solidFill>
          <a:ln/>
        </p:spPr>
        <p:txBody>
          <a:bodyPr/>
          <a:lstStyle/>
          <a:p>
            <a:endParaRPr lang="es-CL" noProof="0" dirty="0"/>
          </a:p>
        </p:txBody>
      </p:sp>
      <p:sp>
        <p:nvSpPr>
          <p:cNvPr id="4" name="Text 2"/>
          <p:cNvSpPr txBox="1"/>
          <p:nvPr/>
        </p:nvSpPr>
        <p:spPr>
          <a:xfrm>
            <a:off x="2423160" y="1280160"/>
            <a:ext cx="7315200" cy="457200"/>
          </a:xfrm>
          <a:prstGeom prst="rect">
            <a:avLst/>
          </a:prstGeom>
          <a:noFill/>
          <a:ln/>
        </p:spPr>
        <p:txBody>
          <a:bodyPr wrap="square" lIns="0" tIns="0" rIns="0" bIns="0" rtlCol="0" anchor="ctr"/>
          <a:lstStyle/>
          <a:p>
            <a:pPr marL="0" indent="0" algn="ctr">
              <a:buNone/>
            </a:pPr>
            <a:r>
              <a:rPr lang="es-CL" sz="2600" b="1" kern="0" spc="200" noProof="0" dirty="0">
                <a:solidFill>
                  <a:srgbClr val="E8785A"/>
                </a:solidFill>
                <a:latin typeface="Calibri" pitchFamily="34" charset="0"/>
                <a:ea typeface="Calibri" pitchFamily="34" charset="-122"/>
                <a:cs typeface="Calibri" pitchFamily="34" charset="-120"/>
              </a:rPr>
              <a:t>OBJETIVO GENERAL</a:t>
            </a:r>
            <a:endParaRPr lang="es-CL" sz="2600" noProof="0" dirty="0"/>
          </a:p>
        </p:txBody>
      </p:sp>
      <p:sp>
        <p:nvSpPr>
          <p:cNvPr id="5" name="Text 3"/>
          <p:cNvSpPr txBox="1"/>
          <p:nvPr/>
        </p:nvSpPr>
        <p:spPr>
          <a:xfrm>
            <a:off x="822960" y="2240280"/>
            <a:ext cx="10515600" cy="3017520"/>
          </a:xfrm>
          <a:prstGeom prst="rect">
            <a:avLst/>
          </a:prstGeom>
          <a:noFill/>
          <a:ln/>
        </p:spPr>
        <p:txBody>
          <a:bodyPr wrap="square" lIns="0" tIns="0" rIns="0" bIns="0" rtlCol="0" anchor="t"/>
          <a:lstStyle/>
          <a:p>
            <a:pPr marL="0" indent="0">
              <a:lnSpc>
                <a:spcPct val="125000"/>
              </a:lnSpc>
              <a:buNone/>
            </a:pPr>
            <a:r>
              <a:rPr lang="es-CL" sz="2400" noProof="0" dirty="0">
                <a:solidFill>
                  <a:srgbClr val="FFFFFF"/>
                </a:solidFill>
                <a:latin typeface="Cambria" pitchFamily="34" charset="0"/>
                <a:ea typeface="Cambria" pitchFamily="34" charset="-122"/>
                <a:cs typeface="Cambria" pitchFamily="34" charset="-120"/>
              </a:rPr>
              <a:t>Diseñar e implementar una plataforma web, con diseño responsivo para uso móvil, que permita gestionar de forma activa los tratamientos kinesiológicos de la Clínica De Los Andes, incorporando alertas de seguimiento ante molestias e inactividad, con escalamiento automático, y una referencia visual de movimiento como apoyo al criterio clínico del profesional.</a:t>
            </a:r>
            <a:endParaRPr lang="es-CL" sz="2400" noProof="0" dirty="0"/>
          </a:p>
        </p:txBody>
      </p:sp>
      <p:sp>
        <p:nvSpPr>
          <p:cNvPr id="7" name="Text 5"/>
          <p:cNvSpPr txBox="1"/>
          <p:nvPr/>
        </p:nvSpPr>
        <p:spPr>
          <a:xfrm>
            <a:off x="11338560" y="6537960"/>
            <a:ext cx="457200" cy="274320"/>
          </a:xfrm>
          <a:prstGeom prst="rect">
            <a:avLst/>
          </a:prstGeom>
          <a:noFill/>
          <a:ln/>
        </p:spPr>
        <p:txBody>
          <a:bodyPr wrap="square" lIns="0" tIns="0" rIns="0" bIns="0" rtlCol="0" anchor="ctr"/>
          <a:lstStyle/>
          <a:p>
            <a:pPr marL="0" indent="0" algn="r">
              <a:buNone/>
            </a:pPr>
            <a:r>
              <a:rPr lang="es-CL" sz="1000" noProof="0" dirty="0">
                <a:solidFill>
                  <a:srgbClr val="5C7A7D"/>
                </a:solidFill>
                <a:latin typeface="Calibri" pitchFamily="34" charset="0"/>
                <a:ea typeface="Calibri" pitchFamily="34" charset="-122"/>
                <a:cs typeface="Calibri" pitchFamily="34" charset="-120"/>
              </a:rPr>
              <a:t>5</a:t>
            </a:r>
            <a:endParaRPr lang="es-CL" sz="1000" noProof="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DFF4F3"/>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64240" cy="822960"/>
          </a:xfrm>
          <a:prstGeom prst="rect">
            <a:avLst/>
          </a:prstGeom>
          <a:noFill/>
          <a:ln/>
        </p:spPr>
        <p:txBody>
          <a:bodyPr wrap="square" lIns="0" tIns="0" rIns="0" bIns="0" rtlCol="0" anchor="ctr"/>
          <a:lstStyle/>
          <a:p>
            <a:pPr marL="0" indent="0" algn="l">
              <a:buNone/>
            </a:pPr>
            <a:r>
              <a:rPr lang="es-CL" sz="3200" b="1" noProof="0" dirty="0">
                <a:solidFill>
                  <a:srgbClr val="0F6D7A"/>
                </a:solidFill>
                <a:latin typeface="Calibri" pitchFamily="34" charset="0"/>
                <a:ea typeface="Calibri" pitchFamily="34" charset="-122"/>
                <a:cs typeface="Calibri" pitchFamily="34" charset="-120"/>
              </a:rPr>
              <a:t>Objetivos Específicos</a:t>
            </a:r>
            <a:endParaRPr lang="es-CL" sz="3200" noProof="0" dirty="0"/>
          </a:p>
        </p:txBody>
      </p:sp>
      <p:sp>
        <p:nvSpPr>
          <p:cNvPr id="3" name="Text 1"/>
          <p:cNvSpPr txBox="1"/>
          <p:nvPr/>
        </p:nvSpPr>
        <p:spPr>
          <a:xfrm>
            <a:off x="10332720" y="502920"/>
            <a:ext cx="1280160" cy="457200"/>
          </a:xfrm>
          <a:prstGeom prst="rect">
            <a:avLst/>
          </a:prstGeom>
          <a:noFill/>
          <a:ln/>
        </p:spPr>
        <p:txBody>
          <a:bodyPr wrap="square" lIns="0" tIns="0" rIns="0" bIns="0" rtlCol="0" anchor="ctr"/>
          <a:lstStyle/>
          <a:p>
            <a:pPr marL="0" indent="0">
              <a:buNone/>
            </a:pPr>
            <a:endParaRPr lang="es-CL" sz="1600" noProof="0" dirty="0"/>
          </a:p>
        </p:txBody>
      </p:sp>
      <p:sp>
        <p:nvSpPr>
          <p:cNvPr id="4" name="Shape 2">
            <a:extLst>
              <a:ext uri="{C183D7F6-B498-43B3-948B-1728B52AA6E4}">
                <adec:decorative xmlns:adec="http://schemas.microsoft.com/office/drawing/2017/decorative" val="1"/>
              </a:ext>
            </a:extLst>
          </p:cNvPr>
          <p:cNvSpPr/>
          <p:nvPr/>
        </p:nvSpPr>
        <p:spPr>
          <a:xfrm>
            <a:off x="548640" y="1645920"/>
            <a:ext cx="3337560" cy="2351922"/>
          </a:xfrm>
          <a:prstGeom prst="roundRect">
            <a:avLst>
              <a:gd name="adj" fmla="val 3288"/>
            </a:avLst>
          </a:prstGeom>
          <a:solidFill>
            <a:srgbClr val="FFFFFF"/>
          </a:solidFill>
          <a:ln/>
          <a:effectLst>
            <a:outerShdw blurRad="63500" dist="25400" dir="5400000" algn="bl" rotWithShape="0">
              <a:srgbClr val="1F3A3D">
                <a:alpha val="12000"/>
              </a:srgbClr>
            </a:outerShdw>
          </a:effectLst>
        </p:spPr>
        <p:txBody>
          <a:bodyPr/>
          <a:lstStyle/>
          <a:p>
            <a:endParaRPr lang="es-CL" noProof="0" dirty="0"/>
          </a:p>
        </p:txBody>
      </p:sp>
      <p:sp>
        <p:nvSpPr>
          <p:cNvPr id="5" name="Shape 3">
            <a:extLst>
              <a:ext uri="{C183D7F6-B498-43B3-948B-1728B52AA6E4}">
                <adec:decorative xmlns:adec="http://schemas.microsoft.com/office/drawing/2017/decorative" val="1"/>
              </a:ext>
            </a:extLst>
          </p:cNvPr>
          <p:cNvSpPr/>
          <p:nvPr/>
        </p:nvSpPr>
        <p:spPr>
          <a:xfrm>
            <a:off x="731520" y="1874520"/>
            <a:ext cx="502920" cy="502920"/>
          </a:xfrm>
          <a:prstGeom prst="ellipse">
            <a:avLst/>
          </a:prstGeom>
          <a:solidFill>
            <a:srgbClr val="14919B"/>
          </a:solidFill>
          <a:ln/>
        </p:spPr>
        <p:txBody>
          <a:bodyPr/>
          <a:lstStyle/>
          <a:p>
            <a:endParaRPr lang="es-CL" noProof="0" dirty="0"/>
          </a:p>
        </p:txBody>
      </p:sp>
      <p:sp>
        <p:nvSpPr>
          <p:cNvPr id="6" name="Text 4"/>
          <p:cNvSpPr txBox="1"/>
          <p:nvPr/>
        </p:nvSpPr>
        <p:spPr>
          <a:xfrm>
            <a:off x="731520" y="1874520"/>
            <a:ext cx="502920" cy="502920"/>
          </a:xfrm>
          <a:prstGeom prst="rect">
            <a:avLst/>
          </a:prstGeom>
          <a:noFill/>
          <a:ln/>
        </p:spPr>
        <p:txBody>
          <a:bodyPr wrap="square" lIns="0" tIns="0" rIns="0" bIns="0" rtlCol="0" anchor="ctr"/>
          <a:lstStyle/>
          <a:p>
            <a:pPr marL="0" indent="0" algn="ctr">
              <a:buNone/>
            </a:pPr>
            <a:r>
              <a:rPr lang="es-CL" sz="1800" b="1" noProof="0" dirty="0">
                <a:solidFill>
                  <a:srgbClr val="FFFFFF"/>
                </a:solidFill>
                <a:latin typeface="Calibri" pitchFamily="34" charset="0"/>
                <a:ea typeface="Calibri" pitchFamily="34" charset="-122"/>
                <a:cs typeface="Calibri" pitchFamily="34" charset="-120"/>
              </a:rPr>
              <a:t>1</a:t>
            </a:r>
            <a:endParaRPr lang="es-CL" sz="1800" noProof="0" dirty="0"/>
          </a:p>
        </p:txBody>
      </p:sp>
      <p:sp>
        <p:nvSpPr>
          <p:cNvPr id="7" name="Text 5"/>
          <p:cNvSpPr txBox="1"/>
          <p:nvPr/>
        </p:nvSpPr>
        <p:spPr>
          <a:xfrm>
            <a:off x="1371600" y="1828800"/>
            <a:ext cx="2331720" cy="594360"/>
          </a:xfrm>
          <a:prstGeom prst="rect">
            <a:avLst/>
          </a:prstGeom>
          <a:noFill/>
          <a:ln/>
        </p:spPr>
        <p:txBody>
          <a:bodyPr wrap="square" lIns="0" tIns="0" rIns="0" bIns="0" rtlCol="0" anchor="ctr"/>
          <a:lstStyle/>
          <a:p>
            <a:pPr marL="0" indent="0">
              <a:buNone/>
            </a:pPr>
            <a:r>
              <a:rPr lang="es-CL" sz="2600" b="1" noProof="0" dirty="0">
                <a:solidFill>
                  <a:srgbClr val="E8785A"/>
                </a:solidFill>
                <a:latin typeface="Cambria" pitchFamily="34" charset="0"/>
                <a:ea typeface="Cambria" pitchFamily="34" charset="-122"/>
                <a:cs typeface="Cambria" pitchFamily="34" charset="-120"/>
              </a:rPr>
              <a:t>100%</a:t>
            </a:r>
            <a:endParaRPr lang="es-CL" sz="2600" noProof="0" dirty="0"/>
          </a:p>
        </p:txBody>
      </p:sp>
      <p:sp>
        <p:nvSpPr>
          <p:cNvPr id="8" name="Text 6"/>
          <p:cNvSpPr txBox="1"/>
          <p:nvPr/>
        </p:nvSpPr>
        <p:spPr>
          <a:xfrm>
            <a:off x="777240" y="2606040"/>
            <a:ext cx="2880360" cy="1285476"/>
          </a:xfrm>
          <a:prstGeom prst="rect">
            <a:avLst/>
          </a:prstGeom>
          <a:noFill/>
          <a:ln/>
        </p:spPr>
        <p:txBody>
          <a:bodyPr wrap="square" lIns="0" tIns="0" rIns="0" bIns="0" rtlCol="0" anchor="t"/>
          <a:lstStyle/>
          <a:p>
            <a:pPr marL="0" indent="0">
              <a:lnSpc>
                <a:spcPct val="115000"/>
              </a:lnSpc>
              <a:buNone/>
            </a:pPr>
            <a:r>
              <a:rPr lang="es-CL" sz="1400" noProof="0" dirty="0">
                <a:solidFill>
                  <a:srgbClr val="1F3A3D"/>
                </a:solidFill>
                <a:latin typeface="Calibri" pitchFamily="34" charset="0"/>
                <a:ea typeface="Calibri" pitchFamily="34" charset="-122"/>
                <a:cs typeface="Calibri" pitchFamily="34" charset="-120"/>
              </a:rPr>
              <a:t>Notificar al kinesiólogo tratante dentro de los primeros 5 minutos de generada una Alerta de Seguimiento (molestia o inactividad prolongada), en el 100% de los casos, desde la implementación.</a:t>
            </a:r>
            <a:endParaRPr lang="es-CL" sz="1400" noProof="0" dirty="0"/>
          </a:p>
        </p:txBody>
      </p:sp>
      <p:grpSp>
        <p:nvGrpSpPr>
          <p:cNvPr id="21" name="Grupo 20">
            <a:extLst>
              <a:ext uri="{FF2B5EF4-FFF2-40B4-BE49-F238E27FC236}">
                <a16:creationId xmlns:a16="http://schemas.microsoft.com/office/drawing/2014/main" id="{7BE20926-6B2E-CB38-FD9A-C1E1615E4DEE}"/>
              </a:ext>
            </a:extLst>
          </p:cNvPr>
          <p:cNvGrpSpPr/>
          <p:nvPr/>
        </p:nvGrpSpPr>
        <p:grpSpPr>
          <a:xfrm>
            <a:off x="548640" y="4120116"/>
            <a:ext cx="3322321" cy="2417844"/>
            <a:chOff x="4434840" y="1645920"/>
            <a:chExt cx="3337560" cy="2511410"/>
          </a:xfrm>
        </p:grpSpPr>
        <p:sp>
          <p:nvSpPr>
            <p:cNvPr id="9" name="Shape 7">
              <a:extLst>
                <a:ext uri="{C183D7F6-B498-43B3-948B-1728B52AA6E4}">
                  <adec:decorative xmlns:adec="http://schemas.microsoft.com/office/drawing/2017/decorative" val="1"/>
                </a:ext>
              </a:extLst>
            </p:cNvPr>
            <p:cNvSpPr/>
            <p:nvPr/>
          </p:nvSpPr>
          <p:spPr>
            <a:xfrm>
              <a:off x="4434840" y="1645920"/>
              <a:ext cx="3337560" cy="2511410"/>
            </a:xfrm>
            <a:prstGeom prst="roundRect">
              <a:avLst>
                <a:gd name="adj" fmla="val 3288"/>
              </a:avLst>
            </a:prstGeom>
            <a:solidFill>
              <a:srgbClr val="FFFFFF"/>
            </a:solidFill>
            <a:ln/>
            <a:effectLst>
              <a:outerShdw blurRad="63500" dist="25400" dir="5400000" algn="bl" rotWithShape="0">
                <a:srgbClr val="1F3A3D">
                  <a:alpha val="12000"/>
                </a:srgbClr>
              </a:outerShdw>
            </a:effectLst>
          </p:spPr>
          <p:txBody>
            <a:bodyPr/>
            <a:lstStyle/>
            <a:p>
              <a:endParaRPr lang="es-CL" noProof="0" dirty="0"/>
            </a:p>
          </p:txBody>
        </p:sp>
        <p:sp>
          <p:nvSpPr>
            <p:cNvPr id="10" name="Shape 8">
              <a:extLst>
                <a:ext uri="{C183D7F6-B498-43B3-948B-1728B52AA6E4}">
                  <adec:decorative xmlns:adec="http://schemas.microsoft.com/office/drawing/2017/decorative" val="1"/>
                </a:ext>
              </a:extLst>
            </p:cNvPr>
            <p:cNvSpPr/>
            <p:nvPr/>
          </p:nvSpPr>
          <p:spPr>
            <a:xfrm>
              <a:off x="4617720" y="1874520"/>
              <a:ext cx="502920" cy="502920"/>
            </a:xfrm>
            <a:prstGeom prst="ellipse">
              <a:avLst/>
            </a:prstGeom>
            <a:solidFill>
              <a:srgbClr val="14919B"/>
            </a:solidFill>
            <a:ln/>
          </p:spPr>
          <p:txBody>
            <a:bodyPr/>
            <a:lstStyle/>
            <a:p>
              <a:endParaRPr lang="es-CL" noProof="0" dirty="0"/>
            </a:p>
          </p:txBody>
        </p:sp>
        <p:sp>
          <p:nvSpPr>
            <p:cNvPr id="11" name="Text 9"/>
            <p:cNvSpPr txBox="1"/>
            <p:nvPr/>
          </p:nvSpPr>
          <p:spPr>
            <a:xfrm>
              <a:off x="4617720" y="1874520"/>
              <a:ext cx="502920" cy="502920"/>
            </a:xfrm>
            <a:prstGeom prst="rect">
              <a:avLst/>
            </a:prstGeom>
            <a:noFill/>
            <a:ln/>
          </p:spPr>
          <p:txBody>
            <a:bodyPr wrap="square" lIns="0" tIns="0" rIns="0" bIns="0" rtlCol="0" anchor="ctr"/>
            <a:lstStyle/>
            <a:p>
              <a:pPr marL="0" indent="0" algn="ctr">
                <a:buNone/>
              </a:pPr>
              <a:r>
                <a:rPr lang="es-CL" sz="1800" b="1" noProof="0" dirty="0">
                  <a:solidFill>
                    <a:srgbClr val="FFFFFF"/>
                  </a:solidFill>
                  <a:latin typeface="Calibri" pitchFamily="34" charset="0"/>
                  <a:ea typeface="Calibri" pitchFamily="34" charset="-122"/>
                  <a:cs typeface="Calibri" pitchFamily="34" charset="-120"/>
                </a:rPr>
                <a:t>2</a:t>
              </a:r>
              <a:endParaRPr lang="es-CL" sz="1800" noProof="0" dirty="0"/>
            </a:p>
          </p:txBody>
        </p:sp>
        <p:sp>
          <p:nvSpPr>
            <p:cNvPr id="12" name="Text 10"/>
            <p:cNvSpPr txBox="1"/>
            <p:nvPr/>
          </p:nvSpPr>
          <p:spPr>
            <a:xfrm>
              <a:off x="5257800" y="1828800"/>
              <a:ext cx="2331720" cy="594360"/>
            </a:xfrm>
            <a:prstGeom prst="rect">
              <a:avLst/>
            </a:prstGeom>
            <a:noFill/>
            <a:ln/>
          </p:spPr>
          <p:txBody>
            <a:bodyPr wrap="square" lIns="0" tIns="0" rIns="0" bIns="0" rtlCol="0" anchor="ctr"/>
            <a:lstStyle/>
            <a:p>
              <a:pPr marL="0" indent="0">
                <a:buNone/>
              </a:pPr>
              <a:r>
                <a:rPr lang="es-CL" sz="2600" b="1" noProof="0" dirty="0">
                  <a:solidFill>
                    <a:srgbClr val="E8785A"/>
                  </a:solidFill>
                  <a:latin typeface="Cambria" pitchFamily="34" charset="0"/>
                  <a:ea typeface="Cambria" pitchFamily="34" charset="-122"/>
                  <a:cs typeface="Cambria" pitchFamily="34" charset="-120"/>
                </a:rPr>
                <a:t>100%</a:t>
              </a:r>
              <a:endParaRPr lang="es-CL" sz="2600" noProof="0" dirty="0"/>
            </a:p>
          </p:txBody>
        </p:sp>
        <p:sp>
          <p:nvSpPr>
            <p:cNvPr id="13" name="Text 11"/>
            <p:cNvSpPr txBox="1"/>
            <p:nvPr/>
          </p:nvSpPr>
          <p:spPr>
            <a:xfrm>
              <a:off x="4663440" y="2606040"/>
              <a:ext cx="2880360" cy="1476862"/>
            </a:xfrm>
            <a:prstGeom prst="rect">
              <a:avLst/>
            </a:prstGeom>
            <a:noFill/>
            <a:ln/>
          </p:spPr>
          <p:txBody>
            <a:bodyPr wrap="square" lIns="0" tIns="0" rIns="0" bIns="0" rtlCol="0" anchor="t"/>
            <a:lstStyle/>
            <a:p>
              <a:pPr marL="0" indent="0">
                <a:lnSpc>
                  <a:spcPct val="115000"/>
                </a:lnSpc>
                <a:buNone/>
              </a:pPr>
              <a:r>
                <a:rPr lang="es-CL" sz="1400" noProof="0" dirty="0">
                  <a:solidFill>
                    <a:srgbClr val="1F3A3D"/>
                  </a:solidFill>
                  <a:latin typeface="Calibri" pitchFamily="34" charset="0"/>
                  <a:ea typeface="Calibri" pitchFamily="34" charset="-122"/>
                  <a:cs typeface="Calibri" pitchFamily="34" charset="-120"/>
                </a:rPr>
                <a:t>Generar una alerta automática a Coordinación en el 100% de los casos donde una Alerta no sea atendida a tiempo, o la evolución clínica no sea registrada, verificado en las primeras 8 semanas de uso.</a:t>
              </a:r>
              <a:endParaRPr lang="es-CL" sz="1400" noProof="0" dirty="0"/>
            </a:p>
          </p:txBody>
        </p:sp>
      </p:grpSp>
      <p:grpSp>
        <p:nvGrpSpPr>
          <p:cNvPr id="22" name="Grupo 21">
            <a:extLst>
              <a:ext uri="{FF2B5EF4-FFF2-40B4-BE49-F238E27FC236}">
                <a16:creationId xmlns:a16="http://schemas.microsoft.com/office/drawing/2014/main" id="{38774D34-6537-D48F-CB6C-42A350E32476}"/>
              </a:ext>
            </a:extLst>
          </p:cNvPr>
          <p:cNvGrpSpPr/>
          <p:nvPr/>
        </p:nvGrpSpPr>
        <p:grpSpPr>
          <a:xfrm>
            <a:off x="4709160" y="1645920"/>
            <a:ext cx="3337560" cy="2351922"/>
            <a:chOff x="8321040" y="1645920"/>
            <a:chExt cx="3337560" cy="2351922"/>
          </a:xfrm>
        </p:grpSpPr>
        <p:sp>
          <p:nvSpPr>
            <p:cNvPr id="14" name="Shape 12">
              <a:extLst>
                <a:ext uri="{C183D7F6-B498-43B3-948B-1728B52AA6E4}">
                  <adec:decorative xmlns:adec="http://schemas.microsoft.com/office/drawing/2017/decorative" val="1"/>
                </a:ext>
              </a:extLst>
            </p:cNvPr>
            <p:cNvSpPr/>
            <p:nvPr/>
          </p:nvSpPr>
          <p:spPr>
            <a:xfrm>
              <a:off x="8321040" y="1645920"/>
              <a:ext cx="3337560" cy="2351922"/>
            </a:xfrm>
            <a:prstGeom prst="roundRect">
              <a:avLst>
                <a:gd name="adj" fmla="val 3288"/>
              </a:avLst>
            </a:prstGeom>
            <a:solidFill>
              <a:srgbClr val="FFFFFF"/>
            </a:solidFill>
            <a:ln/>
            <a:effectLst>
              <a:outerShdw blurRad="63500" dist="25400" dir="5400000" algn="bl" rotWithShape="0">
                <a:srgbClr val="1F3A3D">
                  <a:alpha val="12000"/>
                </a:srgbClr>
              </a:outerShdw>
            </a:effectLst>
          </p:spPr>
          <p:txBody>
            <a:bodyPr/>
            <a:lstStyle/>
            <a:p>
              <a:endParaRPr lang="es-CL" noProof="0" dirty="0"/>
            </a:p>
          </p:txBody>
        </p:sp>
        <p:sp>
          <p:nvSpPr>
            <p:cNvPr id="15" name="Shape 13">
              <a:extLst>
                <a:ext uri="{C183D7F6-B498-43B3-948B-1728B52AA6E4}">
                  <adec:decorative xmlns:adec="http://schemas.microsoft.com/office/drawing/2017/decorative" val="1"/>
                </a:ext>
              </a:extLst>
            </p:cNvPr>
            <p:cNvSpPr/>
            <p:nvPr/>
          </p:nvSpPr>
          <p:spPr>
            <a:xfrm>
              <a:off x="8503920" y="1874520"/>
              <a:ext cx="502920" cy="502920"/>
            </a:xfrm>
            <a:prstGeom prst="ellipse">
              <a:avLst/>
            </a:prstGeom>
            <a:solidFill>
              <a:srgbClr val="14919B"/>
            </a:solidFill>
            <a:ln/>
          </p:spPr>
          <p:txBody>
            <a:bodyPr/>
            <a:lstStyle/>
            <a:p>
              <a:endParaRPr lang="es-CL" noProof="0" dirty="0"/>
            </a:p>
          </p:txBody>
        </p:sp>
        <p:sp>
          <p:nvSpPr>
            <p:cNvPr id="16" name="Text 14"/>
            <p:cNvSpPr txBox="1"/>
            <p:nvPr/>
          </p:nvSpPr>
          <p:spPr>
            <a:xfrm>
              <a:off x="8503920" y="1874520"/>
              <a:ext cx="502920" cy="502920"/>
            </a:xfrm>
            <a:prstGeom prst="rect">
              <a:avLst/>
            </a:prstGeom>
            <a:noFill/>
            <a:ln/>
          </p:spPr>
          <p:txBody>
            <a:bodyPr wrap="square" lIns="0" tIns="0" rIns="0" bIns="0" rtlCol="0" anchor="ctr"/>
            <a:lstStyle/>
            <a:p>
              <a:pPr marL="0" indent="0" algn="ctr">
                <a:buNone/>
              </a:pPr>
              <a:r>
                <a:rPr lang="es-CL" sz="1800" b="1" noProof="0" dirty="0">
                  <a:solidFill>
                    <a:srgbClr val="FFFFFF"/>
                  </a:solidFill>
                  <a:latin typeface="Calibri" pitchFamily="34" charset="0"/>
                  <a:ea typeface="Calibri" pitchFamily="34" charset="-122"/>
                  <a:cs typeface="Calibri" pitchFamily="34" charset="-120"/>
                </a:rPr>
                <a:t>3</a:t>
              </a:r>
              <a:endParaRPr lang="es-CL" sz="1800" noProof="0" dirty="0"/>
            </a:p>
          </p:txBody>
        </p:sp>
        <p:sp>
          <p:nvSpPr>
            <p:cNvPr id="17" name="Text 15"/>
            <p:cNvSpPr txBox="1"/>
            <p:nvPr/>
          </p:nvSpPr>
          <p:spPr>
            <a:xfrm>
              <a:off x="9144000" y="1828800"/>
              <a:ext cx="2331720" cy="594360"/>
            </a:xfrm>
            <a:prstGeom prst="rect">
              <a:avLst/>
            </a:prstGeom>
            <a:noFill/>
            <a:ln/>
          </p:spPr>
          <p:txBody>
            <a:bodyPr wrap="square" lIns="0" tIns="0" rIns="0" bIns="0" rtlCol="0" anchor="ctr"/>
            <a:lstStyle/>
            <a:p>
              <a:pPr marL="0" indent="0">
                <a:buNone/>
              </a:pPr>
              <a:r>
                <a:rPr lang="es-CL" sz="2600" b="1" noProof="0" dirty="0">
                  <a:solidFill>
                    <a:srgbClr val="E8785A"/>
                  </a:solidFill>
                  <a:latin typeface="Cambria" pitchFamily="34" charset="0"/>
                  <a:ea typeface="Cambria" pitchFamily="34" charset="-122"/>
                  <a:cs typeface="Cambria" pitchFamily="34" charset="-120"/>
                </a:rPr>
                <a:t>85%</a:t>
              </a:r>
              <a:endParaRPr lang="es-CL" sz="2600" noProof="0" dirty="0"/>
            </a:p>
          </p:txBody>
        </p:sp>
        <p:sp>
          <p:nvSpPr>
            <p:cNvPr id="18" name="Text 16"/>
            <p:cNvSpPr txBox="1"/>
            <p:nvPr/>
          </p:nvSpPr>
          <p:spPr>
            <a:xfrm>
              <a:off x="8549640" y="2606040"/>
              <a:ext cx="2880360" cy="1391802"/>
            </a:xfrm>
            <a:prstGeom prst="rect">
              <a:avLst/>
            </a:prstGeom>
            <a:noFill/>
            <a:ln/>
          </p:spPr>
          <p:txBody>
            <a:bodyPr wrap="square" lIns="0" tIns="0" rIns="0" bIns="0" rtlCol="0" anchor="t"/>
            <a:lstStyle/>
            <a:p>
              <a:pPr marL="0" indent="0">
                <a:lnSpc>
                  <a:spcPct val="115000"/>
                </a:lnSpc>
                <a:buNone/>
              </a:pPr>
              <a:r>
                <a:rPr lang="es-CL" sz="1400" noProof="0" dirty="0">
                  <a:solidFill>
                    <a:srgbClr val="1F3A3D"/>
                  </a:solidFill>
                  <a:latin typeface="Calibri" pitchFamily="34" charset="0"/>
                  <a:ea typeface="Calibri" pitchFamily="34" charset="-122"/>
                  <a:cs typeface="Calibri" pitchFamily="34" charset="-120"/>
                </a:rPr>
                <a:t>Lograr que al menos el 85% de los pacientes activos cuenten con registro de cumplimiento y evolución consistente dentro de los primeros 3 meses de implementada la solución.</a:t>
              </a:r>
              <a:endParaRPr lang="es-CL" sz="1400" noProof="0" dirty="0"/>
            </a:p>
          </p:txBody>
        </p:sp>
      </p:grpSp>
      <p:sp>
        <p:nvSpPr>
          <p:cNvPr id="20" name="Text 18"/>
          <p:cNvSpPr txBox="1"/>
          <p:nvPr/>
        </p:nvSpPr>
        <p:spPr>
          <a:xfrm>
            <a:off x="11338560" y="6537960"/>
            <a:ext cx="457200" cy="274320"/>
          </a:xfrm>
          <a:prstGeom prst="rect">
            <a:avLst/>
          </a:prstGeom>
          <a:noFill/>
          <a:ln/>
        </p:spPr>
        <p:txBody>
          <a:bodyPr wrap="square" lIns="0" tIns="0" rIns="0" bIns="0" rtlCol="0" anchor="ctr"/>
          <a:lstStyle/>
          <a:p>
            <a:pPr marL="0" indent="0" algn="r">
              <a:buNone/>
            </a:pPr>
            <a:r>
              <a:rPr lang="es-CL" sz="1000" noProof="0" dirty="0">
                <a:solidFill>
                  <a:srgbClr val="5C7A7D"/>
                </a:solidFill>
                <a:latin typeface="Calibri" pitchFamily="34" charset="0"/>
                <a:ea typeface="Calibri" pitchFamily="34" charset="-122"/>
                <a:cs typeface="Calibri" pitchFamily="34" charset="-120"/>
              </a:rPr>
              <a:t>6</a:t>
            </a:r>
            <a:endParaRPr lang="es-CL" sz="1000" noProof="0" dirty="0"/>
          </a:p>
        </p:txBody>
      </p:sp>
      <p:grpSp>
        <p:nvGrpSpPr>
          <p:cNvPr id="41" name="Grupo 40">
            <a:extLst>
              <a:ext uri="{FF2B5EF4-FFF2-40B4-BE49-F238E27FC236}">
                <a16:creationId xmlns:a16="http://schemas.microsoft.com/office/drawing/2014/main" id="{A1166851-0C1E-64A4-2F5E-FBF0EA8A8875}"/>
              </a:ext>
            </a:extLst>
          </p:cNvPr>
          <p:cNvGrpSpPr/>
          <p:nvPr/>
        </p:nvGrpSpPr>
        <p:grpSpPr>
          <a:xfrm>
            <a:off x="4785362" y="4273871"/>
            <a:ext cx="3337560" cy="2192433"/>
            <a:chOff x="4968242" y="4273871"/>
            <a:chExt cx="3337560" cy="2192433"/>
          </a:xfrm>
        </p:grpSpPr>
        <p:sp>
          <p:nvSpPr>
            <p:cNvPr id="23" name="Shape 2">
              <a:extLst>
                <a:ext uri="{FF2B5EF4-FFF2-40B4-BE49-F238E27FC236}">
                  <a16:creationId xmlns:a16="http://schemas.microsoft.com/office/drawing/2014/main" id="{6257E657-7B4E-6AD1-E0A2-5FB521DE8564}"/>
                </a:ext>
                <a:ext uri="{C183D7F6-B498-43B3-948B-1728B52AA6E4}">
                  <adec:decorative xmlns:adec="http://schemas.microsoft.com/office/drawing/2017/decorative" val="1"/>
                </a:ext>
              </a:extLst>
            </p:cNvPr>
            <p:cNvSpPr/>
            <p:nvPr/>
          </p:nvSpPr>
          <p:spPr>
            <a:xfrm>
              <a:off x="4968242" y="4273871"/>
              <a:ext cx="3337560" cy="2192433"/>
            </a:xfrm>
            <a:prstGeom prst="roundRect">
              <a:avLst>
                <a:gd name="adj" fmla="val 3288"/>
              </a:avLst>
            </a:prstGeom>
            <a:solidFill>
              <a:srgbClr val="FFFFFF"/>
            </a:solidFill>
            <a:ln/>
            <a:effectLst>
              <a:outerShdw blurRad="63500" dist="25400" dir="5400000" algn="bl" rotWithShape="0">
                <a:srgbClr val="1F3A3D">
                  <a:alpha val="12000"/>
                </a:srgbClr>
              </a:outerShdw>
            </a:effectLst>
          </p:spPr>
          <p:txBody>
            <a:bodyPr/>
            <a:lstStyle/>
            <a:p>
              <a:endParaRPr lang="es-CL" noProof="0" dirty="0"/>
            </a:p>
          </p:txBody>
        </p:sp>
        <p:grpSp>
          <p:nvGrpSpPr>
            <p:cNvPr id="24" name="Grupo 23">
              <a:extLst>
                <a:ext uri="{FF2B5EF4-FFF2-40B4-BE49-F238E27FC236}">
                  <a16:creationId xmlns:a16="http://schemas.microsoft.com/office/drawing/2014/main" id="{D4486375-7B57-F5E8-0D74-E3624501E952}"/>
                </a:ext>
              </a:extLst>
            </p:cNvPr>
            <p:cNvGrpSpPr/>
            <p:nvPr/>
          </p:nvGrpSpPr>
          <p:grpSpPr>
            <a:xfrm>
              <a:off x="5151122" y="4456751"/>
              <a:ext cx="2971800" cy="1860698"/>
              <a:chOff x="731520" y="1828800"/>
              <a:chExt cx="2971800" cy="1860698"/>
            </a:xfrm>
          </p:grpSpPr>
          <p:sp>
            <p:nvSpPr>
              <p:cNvPr id="25" name="Shape 3">
                <a:extLst>
                  <a:ext uri="{FF2B5EF4-FFF2-40B4-BE49-F238E27FC236}">
                    <a16:creationId xmlns:a16="http://schemas.microsoft.com/office/drawing/2014/main" id="{05C8888B-D221-9135-03E2-05DE80CA1CDA}"/>
                  </a:ext>
                  <a:ext uri="{C183D7F6-B498-43B3-948B-1728B52AA6E4}">
                    <adec:decorative xmlns:adec="http://schemas.microsoft.com/office/drawing/2017/decorative" val="1"/>
                  </a:ext>
                </a:extLst>
              </p:cNvPr>
              <p:cNvSpPr/>
              <p:nvPr/>
            </p:nvSpPr>
            <p:spPr>
              <a:xfrm>
                <a:off x="731520" y="1874520"/>
                <a:ext cx="502920" cy="502920"/>
              </a:xfrm>
              <a:prstGeom prst="ellipse">
                <a:avLst/>
              </a:prstGeom>
              <a:solidFill>
                <a:srgbClr val="14919B"/>
              </a:solidFill>
              <a:ln/>
            </p:spPr>
            <p:txBody>
              <a:bodyPr/>
              <a:lstStyle/>
              <a:p>
                <a:endParaRPr lang="es-CL" noProof="0" dirty="0"/>
              </a:p>
            </p:txBody>
          </p:sp>
          <p:sp>
            <p:nvSpPr>
              <p:cNvPr id="26" name="Text 4">
                <a:extLst>
                  <a:ext uri="{FF2B5EF4-FFF2-40B4-BE49-F238E27FC236}">
                    <a16:creationId xmlns:a16="http://schemas.microsoft.com/office/drawing/2014/main" id="{D45BBE1F-279F-2CF6-13C8-07D25B1CE716}"/>
                  </a:ext>
                </a:extLst>
              </p:cNvPr>
              <p:cNvSpPr txBox="1"/>
              <p:nvPr/>
            </p:nvSpPr>
            <p:spPr>
              <a:xfrm>
                <a:off x="731520" y="1874520"/>
                <a:ext cx="502920" cy="502920"/>
              </a:xfrm>
              <a:prstGeom prst="rect">
                <a:avLst/>
              </a:prstGeom>
              <a:noFill/>
              <a:ln/>
            </p:spPr>
            <p:txBody>
              <a:bodyPr wrap="square" lIns="0" tIns="0" rIns="0" bIns="0" rtlCol="0" anchor="ctr"/>
              <a:lstStyle/>
              <a:p>
                <a:pPr marL="0" indent="0" algn="ctr">
                  <a:buNone/>
                </a:pPr>
                <a:r>
                  <a:rPr lang="es-CL" sz="1800" b="1" noProof="0" dirty="0">
                    <a:solidFill>
                      <a:srgbClr val="FFFFFF"/>
                    </a:solidFill>
                    <a:latin typeface="Calibri" pitchFamily="34" charset="0"/>
                    <a:ea typeface="Calibri" pitchFamily="34" charset="-122"/>
                    <a:cs typeface="Calibri" pitchFamily="34" charset="-120"/>
                  </a:rPr>
                  <a:t>4</a:t>
                </a:r>
                <a:endParaRPr lang="es-CL" sz="1800" noProof="0" dirty="0"/>
              </a:p>
            </p:txBody>
          </p:sp>
          <p:sp>
            <p:nvSpPr>
              <p:cNvPr id="27" name="Text 5">
                <a:extLst>
                  <a:ext uri="{FF2B5EF4-FFF2-40B4-BE49-F238E27FC236}">
                    <a16:creationId xmlns:a16="http://schemas.microsoft.com/office/drawing/2014/main" id="{7AC804C7-435F-386B-6F6D-F1CA6735D2DE}"/>
                  </a:ext>
                </a:extLst>
              </p:cNvPr>
              <p:cNvSpPr txBox="1"/>
              <p:nvPr/>
            </p:nvSpPr>
            <p:spPr>
              <a:xfrm>
                <a:off x="1371600" y="1828800"/>
                <a:ext cx="2331720" cy="594360"/>
              </a:xfrm>
              <a:prstGeom prst="rect">
                <a:avLst/>
              </a:prstGeom>
              <a:noFill/>
              <a:ln/>
            </p:spPr>
            <p:txBody>
              <a:bodyPr wrap="square" lIns="0" tIns="0" rIns="0" bIns="0" rtlCol="0" anchor="ctr"/>
              <a:lstStyle/>
              <a:p>
                <a:pPr marL="0" indent="0">
                  <a:buNone/>
                </a:pPr>
                <a:r>
                  <a:rPr lang="es-CL" sz="2600" b="1" noProof="0" dirty="0">
                    <a:solidFill>
                      <a:srgbClr val="E8785A"/>
                    </a:solidFill>
                    <a:latin typeface="Cambria" pitchFamily="34" charset="0"/>
                    <a:ea typeface="Cambria" pitchFamily="34" charset="-122"/>
                    <a:cs typeface="Cambria" pitchFamily="34" charset="-120"/>
                  </a:rPr>
                  <a:t>90%</a:t>
                </a:r>
                <a:endParaRPr lang="es-CL" sz="2600" noProof="0" dirty="0"/>
              </a:p>
            </p:txBody>
          </p:sp>
          <p:sp>
            <p:nvSpPr>
              <p:cNvPr id="28" name="Text 6">
                <a:extLst>
                  <a:ext uri="{FF2B5EF4-FFF2-40B4-BE49-F238E27FC236}">
                    <a16:creationId xmlns:a16="http://schemas.microsoft.com/office/drawing/2014/main" id="{22014BEF-2141-FE8D-0613-7D1E1B120BA6}"/>
                  </a:ext>
                </a:extLst>
              </p:cNvPr>
              <p:cNvSpPr txBox="1"/>
              <p:nvPr/>
            </p:nvSpPr>
            <p:spPr>
              <a:xfrm>
                <a:off x="777240" y="2606040"/>
                <a:ext cx="2880360" cy="1083458"/>
              </a:xfrm>
              <a:prstGeom prst="rect">
                <a:avLst/>
              </a:prstGeom>
              <a:noFill/>
              <a:ln/>
            </p:spPr>
            <p:txBody>
              <a:bodyPr wrap="square" lIns="0" tIns="0" rIns="0" bIns="0" rtlCol="0" anchor="t"/>
              <a:lstStyle/>
              <a:p>
                <a:pPr marL="0" indent="0">
                  <a:lnSpc>
                    <a:spcPct val="115000"/>
                  </a:lnSpc>
                  <a:buNone/>
                </a:pPr>
                <a:r>
                  <a:rPr lang="es-CL" sz="1400" noProof="0" dirty="0">
                    <a:solidFill>
                      <a:srgbClr val="1F3A3D"/>
                    </a:solidFill>
                    <a:latin typeface="Calibri" pitchFamily="34" charset="0"/>
                    <a:ea typeface="Calibri" pitchFamily="34" charset="-122"/>
                    <a:cs typeface="Calibri" pitchFamily="34" charset="-120"/>
                  </a:rPr>
                  <a:t>Cerrar formalmente (alta, abandono o derivación) al menos el 90% de los tratamientos finalizados dentro del período de evaluación de 3 meses.</a:t>
                </a:r>
                <a:endParaRPr lang="es-CL" sz="1400" noProof="0" dirty="0"/>
              </a:p>
            </p:txBody>
          </p:sp>
        </p:grpSp>
      </p:grpSp>
      <p:grpSp>
        <p:nvGrpSpPr>
          <p:cNvPr id="29" name="Grupo 28">
            <a:extLst>
              <a:ext uri="{FF2B5EF4-FFF2-40B4-BE49-F238E27FC236}">
                <a16:creationId xmlns:a16="http://schemas.microsoft.com/office/drawing/2014/main" id="{CD1B4C47-BE9F-1B7D-2239-3537DFA11C8B}"/>
              </a:ext>
            </a:extLst>
          </p:cNvPr>
          <p:cNvGrpSpPr/>
          <p:nvPr/>
        </p:nvGrpSpPr>
        <p:grpSpPr>
          <a:xfrm>
            <a:off x="8663940" y="1645920"/>
            <a:ext cx="3337560" cy="2362554"/>
            <a:chOff x="4434840" y="1645920"/>
            <a:chExt cx="3337560" cy="2362554"/>
          </a:xfrm>
        </p:grpSpPr>
        <p:sp>
          <p:nvSpPr>
            <p:cNvPr id="30" name="Shape 7">
              <a:extLst>
                <a:ext uri="{FF2B5EF4-FFF2-40B4-BE49-F238E27FC236}">
                  <a16:creationId xmlns:a16="http://schemas.microsoft.com/office/drawing/2014/main" id="{74349A48-0BC1-CB5A-AE88-BAA683F6E809}"/>
                </a:ext>
                <a:ext uri="{C183D7F6-B498-43B3-948B-1728B52AA6E4}">
                  <adec:decorative xmlns:adec="http://schemas.microsoft.com/office/drawing/2017/decorative" val="1"/>
                </a:ext>
              </a:extLst>
            </p:cNvPr>
            <p:cNvSpPr/>
            <p:nvPr/>
          </p:nvSpPr>
          <p:spPr>
            <a:xfrm>
              <a:off x="4434840" y="1645920"/>
              <a:ext cx="3337560" cy="2362554"/>
            </a:xfrm>
            <a:prstGeom prst="roundRect">
              <a:avLst>
                <a:gd name="adj" fmla="val 3288"/>
              </a:avLst>
            </a:prstGeom>
            <a:solidFill>
              <a:srgbClr val="FFFFFF"/>
            </a:solidFill>
            <a:ln/>
            <a:effectLst>
              <a:outerShdw blurRad="63500" dist="25400" dir="5400000" algn="bl" rotWithShape="0">
                <a:srgbClr val="1F3A3D">
                  <a:alpha val="12000"/>
                </a:srgbClr>
              </a:outerShdw>
            </a:effectLst>
          </p:spPr>
          <p:txBody>
            <a:bodyPr/>
            <a:lstStyle/>
            <a:p>
              <a:endParaRPr lang="es-CL" noProof="0" dirty="0"/>
            </a:p>
          </p:txBody>
        </p:sp>
        <p:sp>
          <p:nvSpPr>
            <p:cNvPr id="31" name="Shape 8">
              <a:extLst>
                <a:ext uri="{FF2B5EF4-FFF2-40B4-BE49-F238E27FC236}">
                  <a16:creationId xmlns:a16="http://schemas.microsoft.com/office/drawing/2014/main" id="{FB77828B-82DF-D747-BA03-FCE25ADAD079}"/>
                </a:ext>
                <a:ext uri="{C183D7F6-B498-43B3-948B-1728B52AA6E4}">
                  <adec:decorative xmlns:adec="http://schemas.microsoft.com/office/drawing/2017/decorative" val="1"/>
                </a:ext>
              </a:extLst>
            </p:cNvPr>
            <p:cNvSpPr/>
            <p:nvPr/>
          </p:nvSpPr>
          <p:spPr>
            <a:xfrm>
              <a:off x="4617720" y="1874520"/>
              <a:ext cx="502920" cy="502920"/>
            </a:xfrm>
            <a:prstGeom prst="ellipse">
              <a:avLst/>
            </a:prstGeom>
            <a:solidFill>
              <a:srgbClr val="14919B"/>
            </a:solidFill>
            <a:ln/>
          </p:spPr>
          <p:txBody>
            <a:bodyPr/>
            <a:lstStyle/>
            <a:p>
              <a:endParaRPr lang="es-CL" noProof="0" dirty="0"/>
            </a:p>
          </p:txBody>
        </p:sp>
        <p:sp>
          <p:nvSpPr>
            <p:cNvPr id="32" name="Text 9">
              <a:extLst>
                <a:ext uri="{FF2B5EF4-FFF2-40B4-BE49-F238E27FC236}">
                  <a16:creationId xmlns:a16="http://schemas.microsoft.com/office/drawing/2014/main" id="{D9B56251-7CA4-F561-A2C9-9102A15A9941}"/>
                </a:ext>
              </a:extLst>
            </p:cNvPr>
            <p:cNvSpPr txBox="1"/>
            <p:nvPr/>
          </p:nvSpPr>
          <p:spPr>
            <a:xfrm>
              <a:off x="4617720" y="1874520"/>
              <a:ext cx="502920" cy="502920"/>
            </a:xfrm>
            <a:prstGeom prst="rect">
              <a:avLst/>
            </a:prstGeom>
            <a:noFill/>
            <a:ln/>
          </p:spPr>
          <p:txBody>
            <a:bodyPr wrap="square" lIns="0" tIns="0" rIns="0" bIns="0" rtlCol="0" anchor="ctr"/>
            <a:lstStyle/>
            <a:p>
              <a:pPr marL="0" indent="0" algn="ctr">
                <a:buNone/>
              </a:pPr>
              <a:r>
                <a:rPr lang="es-CL" sz="1800" b="1" noProof="0" dirty="0">
                  <a:solidFill>
                    <a:srgbClr val="FFFFFF"/>
                  </a:solidFill>
                  <a:latin typeface="Calibri" pitchFamily="34" charset="0"/>
                  <a:ea typeface="Calibri" pitchFamily="34" charset="-122"/>
                  <a:cs typeface="Calibri" pitchFamily="34" charset="-120"/>
                </a:rPr>
                <a:t>5</a:t>
              </a:r>
              <a:endParaRPr lang="es-CL" sz="1800" noProof="0" dirty="0"/>
            </a:p>
          </p:txBody>
        </p:sp>
        <p:sp>
          <p:nvSpPr>
            <p:cNvPr id="33" name="Text 10">
              <a:extLst>
                <a:ext uri="{FF2B5EF4-FFF2-40B4-BE49-F238E27FC236}">
                  <a16:creationId xmlns:a16="http://schemas.microsoft.com/office/drawing/2014/main" id="{EF160E1C-82A7-6C55-A37E-3C3A7E6C2C5A}"/>
                </a:ext>
              </a:extLst>
            </p:cNvPr>
            <p:cNvSpPr txBox="1"/>
            <p:nvPr/>
          </p:nvSpPr>
          <p:spPr>
            <a:xfrm>
              <a:off x="5257800" y="1828800"/>
              <a:ext cx="2331720" cy="594360"/>
            </a:xfrm>
            <a:prstGeom prst="rect">
              <a:avLst/>
            </a:prstGeom>
            <a:noFill/>
            <a:ln/>
          </p:spPr>
          <p:txBody>
            <a:bodyPr wrap="square" lIns="0" tIns="0" rIns="0" bIns="0" rtlCol="0" anchor="ctr"/>
            <a:lstStyle/>
            <a:p>
              <a:pPr marL="0" indent="0">
                <a:buNone/>
              </a:pPr>
              <a:r>
                <a:rPr lang="es-CL" sz="2600" b="1" noProof="0" dirty="0">
                  <a:solidFill>
                    <a:srgbClr val="E8785A"/>
                  </a:solidFill>
                  <a:latin typeface="Cambria" pitchFamily="34" charset="0"/>
                  <a:ea typeface="Cambria" pitchFamily="34" charset="-122"/>
                  <a:cs typeface="Cambria" pitchFamily="34" charset="-120"/>
                </a:rPr>
                <a:t>90%</a:t>
              </a:r>
              <a:endParaRPr lang="es-CL" sz="2600" noProof="0" dirty="0"/>
            </a:p>
          </p:txBody>
        </p:sp>
        <p:sp>
          <p:nvSpPr>
            <p:cNvPr id="34" name="Text 11">
              <a:extLst>
                <a:ext uri="{FF2B5EF4-FFF2-40B4-BE49-F238E27FC236}">
                  <a16:creationId xmlns:a16="http://schemas.microsoft.com/office/drawing/2014/main" id="{42297E19-A515-C065-3689-CCF35CC57CFE}"/>
                </a:ext>
              </a:extLst>
            </p:cNvPr>
            <p:cNvSpPr txBox="1"/>
            <p:nvPr/>
          </p:nvSpPr>
          <p:spPr>
            <a:xfrm>
              <a:off x="4663440" y="2606040"/>
              <a:ext cx="2880360" cy="1317374"/>
            </a:xfrm>
            <a:prstGeom prst="rect">
              <a:avLst/>
            </a:prstGeom>
            <a:noFill/>
            <a:ln/>
          </p:spPr>
          <p:txBody>
            <a:bodyPr wrap="square" lIns="0" tIns="0" rIns="0" bIns="0" rtlCol="0" anchor="t"/>
            <a:lstStyle/>
            <a:p>
              <a:pPr marL="0" indent="0">
                <a:lnSpc>
                  <a:spcPct val="115000"/>
                </a:lnSpc>
                <a:buNone/>
              </a:pPr>
              <a:r>
                <a:rPr lang="es-CL" sz="1400" noProof="0" dirty="0">
                  <a:solidFill>
                    <a:srgbClr val="1F3A3D"/>
                  </a:solidFill>
                  <a:latin typeface="Calibri" pitchFamily="34" charset="0"/>
                  <a:ea typeface="Calibri" pitchFamily="34" charset="-122"/>
                  <a:cs typeface="Calibri" pitchFamily="34" charset="-120"/>
                </a:rPr>
                <a:t>Capacitar a los kinesiólogos y lograr que al menos el 90% completen el flujo de asignación de plan, antes del uso regular.</a:t>
              </a:r>
              <a:endParaRPr lang="es-CL" sz="1400" noProof="0" dirty="0"/>
            </a:p>
          </p:txBody>
        </p:sp>
      </p:grpSp>
      <p:grpSp>
        <p:nvGrpSpPr>
          <p:cNvPr id="35" name="Grupo 34">
            <a:extLst>
              <a:ext uri="{FF2B5EF4-FFF2-40B4-BE49-F238E27FC236}">
                <a16:creationId xmlns:a16="http://schemas.microsoft.com/office/drawing/2014/main" id="{A6F0A5E7-7F70-FD50-60ED-7CB54E5F010E}"/>
              </a:ext>
            </a:extLst>
          </p:cNvPr>
          <p:cNvGrpSpPr/>
          <p:nvPr/>
        </p:nvGrpSpPr>
        <p:grpSpPr>
          <a:xfrm>
            <a:off x="8663940" y="4175406"/>
            <a:ext cx="3337560" cy="2362554"/>
            <a:chOff x="8321040" y="1645920"/>
            <a:chExt cx="3337560" cy="2362554"/>
          </a:xfrm>
        </p:grpSpPr>
        <p:sp>
          <p:nvSpPr>
            <p:cNvPr id="36" name="Shape 12">
              <a:extLst>
                <a:ext uri="{FF2B5EF4-FFF2-40B4-BE49-F238E27FC236}">
                  <a16:creationId xmlns:a16="http://schemas.microsoft.com/office/drawing/2014/main" id="{29F23291-BFE9-1A6D-F236-B0533374C30C}"/>
                </a:ext>
                <a:ext uri="{C183D7F6-B498-43B3-948B-1728B52AA6E4}">
                  <adec:decorative xmlns:adec="http://schemas.microsoft.com/office/drawing/2017/decorative" val="1"/>
                </a:ext>
              </a:extLst>
            </p:cNvPr>
            <p:cNvSpPr/>
            <p:nvPr/>
          </p:nvSpPr>
          <p:spPr>
            <a:xfrm>
              <a:off x="8321040" y="1645920"/>
              <a:ext cx="3337560" cy="2362554"/>
            </a:xfrm>
            <a:prstGeom prst="roundRect">
              <a:avLst>
                <a:gd name="adj" fmla="val 3288"/>
              </a:avLst>
            </a:prstGeom>
            <a:solidFill>
              <a:srgbClr val="FFFFFF"/>
            </a:solidFill>
            <a:ln/>
            <a:effectLst>
              <a:outerShdw blurRad="63500" dist="25400" dir="5400000" algn="bl" rotWithShape="0">
                <a:srgbClr val="1F3A3D">
                  <a:alpha val="12000"/>
                </a:srgbClr>
              </a:outerShdw>
            </a:effectLst>
          </p:spPr>
          <p:txBody>
            <a:bodyPr/>
            <a:lstStyle/>
            <a:p>
              <a:endParaRPr lang="es-CL" noProof="0" dirty="0"/>
            </a:p>
          </p:txBody>
        </p:sp>
        <p:sp>
          <p:nvSpPr>
            <p:cNvPr id="37" name="Shape 13">
              <a:extLst>
                <a:ext uri="{FF2B5EF4-FFF2-40B4-BE49-F238E27FC236}">
                  <a16:creationId xmlns:a16="http://schemas.microsoft.com/office/drawing/2014/main" id="{4408B8D6-26A9-4476-43CD-DD7C1F042CE6}"/>
                </a:ext>
                <a:ext uri="{C183D7F6-B498-43B3-948B-1728B52AA6E4}">
                  <adec:decorative xmlns:adec="http://schemas.microsoft.com/office/drawing/2017/decorative" val="1"/>
                </a:ext>
              </a:extLst>
            </p:cNvPr>
            <p:cNvSpPr/>
            <p:nvPr/>
          </p:nvSpPr>
          <p:spPr>
            <a:xfrm>
              <a:off x="8503920" y="1874520"/>
              <a:ext cx="502920" cy="502920"/>
            </a:xfrm>
            <a:prstGeom prst="ellipse">
              <a:avLst/>
            </a:prstGeom>
            <a:solidFill>
              <a:srgbClr val="14919B"/>
            </a:solidFill>
            <a:ln/>
          </p:spPr>
          <p:txBody>
            <a:bodyPr/>
            <a:lstStyle/>
            <a:p>
              <a:endParaRPr lang="es-CL" noProof="0" dirty="0"/>
            </a:p>
          </p:txBody>
        </p:sp>
        <p:sp>
          <p:nvSpPr>
            <p:cNvPr id="38" name="Text 14">
              <a:extLst>
                <a:ext uri="{FF2B5EF4-FFF2-40B4-BE49-F238E27FC236}">
                  <a16:creationId xmlns:a16="http://schemas.microsoft.com/office/drawing/2014/main" id="{D6AE18EE-C8F8-E796-BE87-C4FA444EEEB1}"/>
                </a:ext>
              </a:extLst>
            </p:cNvPr>
            <p:cNvSpPr txBox="1"/>
            <p:nvPr/>
          </p:nvSpPr>
          <p:spPr>
            <a:xfrm>
              <a:off x="8503920" y="1874520"/>
              <a:ext cx="502920" cy="502920"/>
            </a:xfrm>
            <a:prstGeom prst="rect">
              <a:avLst/>
            </a:prstGeom>
            <a:noFill/>
            <a:ln/>
          </p:spPr>
          <p:txBody>
            <a:bodyPr wrap="square" lIns="0" tIns="0" rIns="0" bIns="0" rtlCol="0" anchor="ctr"/>
            <a:lstStyle/>
            <a:p>
              <a:pPr marL="0" indent="0" algn="ctr">
                <a:buNone/>
              </a:pPr>
              <a:r>
                <a:rPr lang="es-CL" sz="1800" b="1" noProof="0" dirty="0">
                  <a:solidFill>
                    <a:srgbClr val="FFFFFF"/>
                  </a:solidFill>
                  <a:latin typeface="Calibri" pitchFamily="34" charset="0"/>
                  <a:ea typeface="Calibri" pitchFamily="34" charset="-122"/>
                  <a:cs typeface="Calibri" pitchFamily="34" charset="-120"/>
                </a:rPr>
                <a:t>6</a:t>
              </a:r>
              <a:endParaRPr lang="es-CL" sz="1800" noProof="0" dirty="0"/>
            </a:p>
          </p:txBody>
        </p:sp>
        <p:sp>
          <p:nvSpPr>
            <p:cNvPr id="39" name="Text 15">
              <a:extLst>
                <a:ext uri="{FF2B5EF4-FFF2-40B4-BE49-F238E27FC236}">
                  <a16:creationId xmlns:a16="http://schemas.microsoft.com/office/drawing/2014/main" id="{F6F7A9ED-1DA3-97ED-35BF-C17BD93ECE16}"/>
                </a:ext>
              </a:extLst>
            </p:cNvPr>
            <p:cNvSpPr txBox="1"/>
            <p:nvPr/>
          </p:nvSpPr>
          <p:spPr>
            <a:xfrm>
              <a:off x="9144000" y="1828800"/>
              <a:ext cx="2331720" cy="594360"/>
            </a:xfrm>
            <a:prstGeom prst="rect">
              <a:avLst/>
            </a:prstGeom>
            <a:noFill/>
            <a:ln/>
          </p:spPr>
          <p:txBody>
            <a:bodyPr wrap="square" lIns="0" tIns="0" rIns="0" bIns="0" rtlCol="0" anchor="ctr"/>
            <a:lstStyle/>
            <a:p>
              <a:pPr marL="0" indent="0">
                <a:buNone/>
              </a:pPr>
              <a:r>
                <a:rPr lang="es-CL" sz="2600" b="1" noProof="0" dirty="0">
                  <a:solidFill>
                    <a:srgbClr val="E8785A"/>
                  </a:solidFill>
                  <a:latin typeface="Cambria" pitchFamily="34" charset="0"/>
                  <a:ea typeface="Cambria" pitchFamily="34" charset="-122"/>
                  <a:cs typeface="Cambria" pitchFamily="34" charset="-120"/>
                </a:rPr>
                <a:t>10 </a:t>
              </a:r>
              <a:r>
                <a:rPr lang="es-CL" sz="2600" b="1" noProof="0" dirty="0" err="1">
                  <a:solidFill>
                    <a:srgbClr val="E8785A"/>
                  </a:solidFill>
                  <a:latin typeface="Cambria" pitchFamily="34" charset="0"/>
                  <a:ea typeface="Cambria" pitchFamily="34" charset="-122"/>
                  <a:cs typeface="Cambria" pitchFamily="34" charset="-120"/>
                </a:rPr>
                <a:t>pac</a:t>
              </a:r>
              <a:r>
                <a:rPr lang="es-CL" sz="2600" b="1" noProof="0" dirty="0">
                  <a:solidFill>
                    <a:srgbClr val="E8785A"/>
                  </a:solidFill>
                  <a:latin typeface="Cambria" pitchFamily="34" charset="0"/>
                  <a:ea typeface="Cambria" pitchFamily="34" charset="-122"/>
                  <a:cs typeface="Cambria" pitchFamily="34" charset="-120"/>
                </a:rPr>
                <a:t>.</a:t>
              </a:r>
              <a:endParaRPr lang="es-CL" sz="2600" noProof="0" dirty="0"/>
            </a:p>
          </p:txBody>
        </p:sp>
        <p:sp>
          <p:nvSpPr>
            <p:cNvPr id="40" name="Text 16">
              <a:extLst>
                <a:ext uri="{FF2B5EF4-FFF2-40B4-BE49-F238E27FC236}">
                  <a16:creationId xmlns:a16="http://schemas.microsoft.com/office/drawing/2014/main" id="{9AB89589-194F-4E0F-7BFD-9B64A94CA76B}"/>
                </a:ext>
              </a:extLst>
            </p:cNvPr>
            <p:cNvSpPr txBox="1"/>
            <p:nvPr/>
          </p:nvSpPr>
          <p:spPr>
            <a:xfrm>
              <a:off x="8549640" y="2606040"/>
              <a:ext cx="2880360" cy="1402434"/>
            </a:xfrm>
            <a:prstGeom prst="rect">
              <a:avLst/>
            </a:prstGeom>
            <a:noFill/>
            <a:ln/>
          </p:spPr>
          <p:txBody>
            <a:bodyPr wrap="square" lIns="0" tIns="0" rIns="0" bIns="0" rtlCol="0" anchor="t"/>
            <a:lstStyle/>
            <a:p>
              <a:pPr marL="0" indent="0">
                <a:lnSpc>
                  <a:spcPct val="115000"/>
                </a:lnSpc>
                <a:buNone/>
              </a:pPr>
              <a:r>
                <a:rPr lang="es-CL" sz="1400" noProof="0" dirty="0">
                  <a:solidFill>
                    <a:srgbClr val="1F3A3D"/>
                  </a:solidFill>
                  <a:latin typeface="Calibri" pitchFamily="34" charset="0"/>
                  <a:ea typeface="Calibri" pitchFamily="34" charset="-122"/>
                  <a:cs typeface="Calibri" pitchFamily="34" charset="-120"/>
                </a:rPr>
                <a:t>Validar con al menos 10 pacientes durante el primer mes de piloto que la referencia visual de </a:t>
              </a:r>
              <a:r>
                <a:rPr lang="es-CL" sz="1400" noProof="0" dirty="0" err="1">
                  <a:solidFill>
                    <a:srgbClr val="1F3A3D"/>
                  </a:solidFill>
                  <a:latin typeface="Calibri" pitchFamily="34" charset="0"/>
                  <a:ea typeface="Calibri" pitchFamily="34" charset="-122"/>
                  <a:cs typeface="Calibri" pitchFamily="34" charset="-120"/>
                </a:rPr>
                <a:t>MediaPipe</a:t>
              </a:r>
              <a:r>
                <a:rPr lang="es-CL" sz="1400" noProof="0" dirty="0">
                  <a:solidFill>
                    <a:srgbClr val="1F3A3D"/>
                  </a:solidFill>
                  <a:latin typeface="Calibri" pitchFamily="34" charset="0"/>
                  <a:ea typeface="Calibri" pitchFamily="34" charset="-122"/>
                  <a:cs typeface="Calibri" pitchFamily="34" charset="-120"/>
                </a:rPr>
                <a:t> es percibida como útil de apoyo, sin atribuírsele valor diagnóstico.</a:t>
              </a:r>
              <a:endParaRPr lang="es-CL" sz="1400" noProof="0" dirty="0"/>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DFF4F3"/>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64240" cy="822960"/>
          </a:xfrm>
          <a:prstGeom prst="rect">
            <a:avLst/>
          </a:prstGeom>
          <a:noFill/>
          <a:ln/>
        </p:spPr>
        <p:txBody>
          <a:bodyPr wrap="square" lIns="0" tIns="0" rIns="0" bIns="0" rtlCol="0" anchor="ctr"/>
          <a:lstStyle/>
          <a:p>
            <a:pPr marL="0" indent="0" algn="l">
              <a:buNone/>
            </a:pPr>
            <a:r>
              <a:rPr lang="es-CL" sz="3200" b="1" noProof="0" dirty="0">
                <a:solidFill>
                  <a:srgbClr val="0F6D7A"/>
                </a:solidFill>
                <a:latin typeface="Calibri" pitchFamily="34" charset="0"/>
                <a:ea typeface="Calibri" pitchFamily="34" charset="-122"/>
                <a:cs typeface="Calibri" pitchFamily="34" charset="-120"/>
              </a:rPr>
              <a:t>Alcance y Limitaciones</a:t>
            </a:r>
            <a:endParaRPr lang="es-CL" sz="3200" noProof="0" dirty="0"/>
          </a:p>
        </p:txBody>
      </p:sp>
      <p:sp>
        <p:nvSpPr>
          <p:cNvPr id="3" name="Shape 1">
            <a:extLst>
              <a:ext uri="{C183D7F6-B498-43B3-948B-1728B52AA6E4}">
                <adec:decorative xmlns:adec="http://schemas.microsoft.com/office/drawing/2017/decorative" val="1"/>
              </a:ext>
            </a:extLst>
          </p:cNvPr>
          <p:cNvSpPr/>
          <p:nvPr/>
        </p:nvSpPr>
        <p:spPr>
          <a:xfrm>
            <a:off x="548640" y="1508760"/>
            <a:ext cx="5394960" cy="4663440"/>
          </a:xfrm>
          <a:prstGeom prst="roundRect">
            <a:avLst>
              <a:gd name="adj" fmla="val 2353"/>
            </a:avLst>
          </a:prstGeom>
          <a:solidFill>
            <a:srgbClr val="FFFFFF"/>
          </a:solidFill>
          <a:ln/>
        </p:spPr>
        <p:txBody>
          <a:bodyPr/>
          <a:lstStyle/>
          <a:p>
            <a:endParaRPr lang="es-CL" noProof="0" dirty="0"/>
          </a:p>
        </p:txBody>
      </p:sp>
      <p:sp>
        <p:nvSpPr>
          <p:cNvPr id="4" name="Text 2"/>
          <p:cNvSpPr txBox="1"/>
          <p:nvPr/>
        </p:nvSpPr>
        <p:spPr>
          <a:xfrm>
            <a:off x="914400" y="1783080"/>
            <a:ext cx="4572000" cy="457200"/>
          </a:xfrm>
          <a:prstGeom prst="rect">
            <a:avLst/>
          </a:prstGeom>
          <a:noFill/>
          <a:ln/>
        </p:spPr>
        <p:txBody>
          <a:bodyPr wrap="square" lIns="0" tIns="0" rIns="0" bIns="0" rtlCol="0" anchor="ctr"/>
          <a:lstStyle/>
          <a:p>
            <a:pPr marL="0" indent="0">
              <a:buNone/>
            </a:pPr>
            <a:r>
              <a:rPr lang="es-CL" sz="1800" b="1" noProof="0" dirty="0">
                <a:solidFill>
                  <a:srgbClr val="0F6D7A"/>
                </a:solidFill>
                <a:latin typeface="Calibri" pitchFamily="34" charset="0"/>
                <a:ea typeface="Calibri" pitchFamily="34" charset="-122"/>
                <a:cs typeface="Calibri" pitchFamily="34" charset="-120"/>
              </a:rPr>
              <a:t>Alcance</a:t>
            </a:r>
            <a:endParaRPr lang="es-CL" sz="1800" noProof="0" dirty="0"/>
          </a:p>
        </p:txBody>
      </p:sp>
      <p:sp>
        <p:nvSpPr>
          <p:cNvPr id="5" name="Text 3"/>
          <p:cNvSpPr txBox="1"/>
          <p:nvPr/>
        </p:nvSpPr>
        <p:spPr>
          <a:xfrm>
            <a:off x="960120" y="2331720"/>
            <a:ext cx="4754880" cy="3566160"/>
          </a:xfrm>
          <a:prstGeom prst="rect">
            <a:avLst/>
          </a:prstGeom>
          <a:noFill/>
          <a:ln/>
        </p:spPr>
        <p:txBody>
          <a:bodyPr wrap="square" lIns="0" tIns="0" rIns="0" bIns="0" rtlCol="0" anchor="t"/>
          <a:lstStyle/>
          <a:p>
            <a:pPr>
              <a:spcAft>
                <a:spcPts val="1000"/>
              </a:spcAft>
              <a:buSzPct val="100000"/>
            </a:pPr>
            <a:r>
              <a:rPr lang="es-CL" noProof="0" dirty="0">
                <a:solidFill>
                  <a:srgbClr val="1F3A3D"/>
                </a:solidFill>
                <a:latin typeface="Calibri" pitchFamily="34" charset="0"/>
                <a:ea typeface="Calibri" pitchFamily="34" charset="-122"/>
                <a:cs typeface="Calibri" pitchFamily="34" charset="-120"/>
              </a:rPr>
              <a:t>Cuatro perfiles: Paciente, Kinesiólogo, Coordinación y Administrador.</a:t>
            </a:r>
            <a:endParaRPr lang="es-CL" noProof="0" dirty="0"/>
          </a:p>
          <a:p>
            <a:pPr>
              <a:spcAft>
                <a:spcPts val="1000"/>
              </a:spcAft>
              <a:buSzPct val="100000"/>
            </a:pPr>
            <a:r>
              <a:rPr lang="es-CL" noProof="0" dirty="0">
                <a:solidFill>
                  <a:srgbClr val="1F3A3D"/>
                </a:solidFill>
                <a:latin typeface="Calibri" pitchFamily="34" charset="0"/>
                <a:ea typeface="Calibri" pitchFamily="34" charset="-122"/>
                <a:cs typeface="Calibri" pitchFamily="34" charset="-120"/>
              </a:rPr>
              <a:t>Flujo transaccional de Alertas de Seguimiento con escalamiento automático.</a:t>
            </a:r>
            <a:endParaRPr lang="es-CL" noProof="0" dirty="0"/>
          </a:p>
          <a:p>
            <a:pPr>
              <a:spcAft>
                <a:spcPts val="1000"/>
              </a:spcAft>
              <a:buSzPct val="100000"/>
            </a:pPr>
            <a:r>
              <a:rPr lang="es-CL" noProof="0" dirty="0">
                <a:solidFill>
                  <a:srgbClr val="1F3A3D"/>
                </a:solidFill>
                <a:latin typeface="Calibri" pitchFamily="34" charset="0"/>
                <a:ea typeface="Calibri" pitchFamily="34" charset="-122"/>
                <a:cs typeface="Calibri" pitchFamily="34" charset="-120"/>
              </a:rPr>
              <a:t>Componente de visión por computador (</a:t>
            </a:r>
            <a:r>
              <a:rPr lang="es-CL" noProof="0" dirty="0" err="1">
                <a:solidFill>
                  <a:srgbClr val="1F3A3D"/>
                </a:solidFill>
                <a:latin typeface="Calibri" pitchFamily="34" charset="0"/>
                <a:ea typeface="Calibri" pitchFamily="34" charset="-122"/>
                <a:cs typeface="Calibri" pitchFamily="34" charset="-120"/>
              </a:rPr>
              <a:t>MediaPipe</a:t>
            </a:r>
            <a:r>
              <a:rPr lang="es-CL" noProof="0" dirty="0">
                <a:solidFill>
                  <a:srgbClr val="1F3A3D"/>
                </a:solidFill>
                <a:latin typeface="Calibri" pitchFamily="34" charset="0"/>
                <a:ea typeface="Calibri" pitchFamily="34" charset="-122"/>
                <a:cs typeface="Calibri" pitchFamily="34" charset="-120"/>
              </a:rPr>
              <a:t>) como apoyo visual, no diagnóstico.</a:t>
            </a:r>
            <a:endParaRPr lang="es-CL" noProof="0" dirty="0"/>
          </a:p>
          <a:p>
            <a:pPr>
              <a:spcAft>
                <a:spcPts val="1000"/>
              </a:spcAft>
              <a:buSzPct val="100000"/>
            </a:pPr>
            <a:r>
              <a:rPr lang="es-CL" noProof="0" dirty="0" err="1">
                <a:solidFill>
                  <a:srgbClr val="1F3A3D"/>
                </a:solidFill>
                <a:latin typeface="Calibri" pitchFamily="34" charset="0"/>
                <a:ea typeface="Calibri" pitchFamily="34" charset="-122"/>
                <a:cs typeface="Calibri" pitchFamily="34" charset="-120"/>
              </a:rPr>
              <a:t>Dashboard</a:t>
            </a:r>
            <a:r>
              <a:rPr lang="es-CL" noProof="0" dirty="0">
                <a:solidFill>
                  <a:srgbClr val="1F3A3D"/>
                </a:solidFill>
                <a:latin typeface="Calibri" pitchFamily="34" charset="0"/>
                <a:ea typeface="Calibri" pitchFamily="34" charset="-122"/>
                <a:cs typeface="Calibri" pitchFamily="34" charset="-120"/>
              </a:rPr>
              <a:t> analítico de adherencia y abandono por diagnóstico.</a:t>
            </a:r>
            <a:endParaRPr lang="es-CL" noProof="0" dirty="0"/>
          </a:p>
        </p:txBody>
      </p:sp>
      <p:sp>
        <p:nvSpPr>
          <p:cNvPr id="6" name="Shape 4">
            <a:extLst>
              <a:ext uri="{C183D7F6-B498-43B3-948B-1728B52AA6E4}">
                <adec:decorative xmlns:adec="http://schemas.microsoft.com/office/drawing/2017/decorative" val="1"/>
              </a:ext>
            </a:extLst>
          </p:cNvPr>
          <p:cNvSpPr/>
          <p:nvPr/>
        </p:nvSpPr>
        <p:spPr>
          <a:xfrm>
            <a:off x="6263640" y="1508760"/>
            <a:ext cx="5394960" cy="4663440"/>
          </a:xfrm>
          <a:prstGeom prst="roundRect">
            <a:avLst>
              <a:gd name="adj" fmla="val 2353"/>
            </a:avLst>
          </a:prstGeom>
          <a:solidFill>
            <a:srgbClr val="0F6D7A"/>
          </a:solidFill>
          <a:ln/>
        </p:spPr>
        <p:txBody>
          <a:bodyPr/>
          <a:lstStyle/>
          <a:p>
            <a:endParaRPr lang="es-CL" noProof="0" dirty="0"/>
          </a:p>
        </p:txBody>
      </p:sp>
      <p:sp>
        <p:nvSpPr>
          <p:cNvPr id="7" name="Text 5"/>
          <p:cNvSpPr txBox="1"/>
          <p:nvPr/>
        </p:nvSpPr>
        <p:spPr>
          <a:xfrm>
            <a:off x="6629400" y="1783080"/>
            <a:ext cx="4572000" cy="457200"/>
          </a:xfrm>
          <a:prstGeom prst="rect">
            <a:avLst/>
          </a:prstGeom>
          <a:noFill/>
          <a:ln/>
        </p:spPr>
        <p:txBody>
          <a:bodyPr wrap="square" lIns="0" tIns="0" rIns="0" bIns="0" rtlCol="0" anchor="ctr"/>
          <a:lstStyle/>
          <a:p>
            <a:pPr marL="0" indent="0">
              <a:buNone/>
            </a:pPr>
            <a:r>
              <a:rPr lang="es-CL" sz="1800" b="1" noProof="0" dirty="0">
                <a:solidFill>
                  <a:srgbClr val="FFFFFF"/>
                </a:solidFill>
                <a:latin typeface="Calibri" pitchFamily="34" charset="0"/>
                <a:ea typeface="Calibri" pitchFamily="34" charset="-122"/>
                <a:cs typeface="Calibri" pitchFamily="34" charset="-120"/>
              </a:rPr>
              <a:t>Limitaciones</a:t>
            </a:r>
            <a:endParaRPr lang="es-CL" sz="1800" noProof="0" dirty="0"/>
          </a:p>
        </p:txBody>
      </p:sp>
      <p:sp>
        <p:nvSpPr>
          <p:cNvPr id="8" name="Text 6"/>
          <p:cNvSpPr txBox="1"/>
          <p:nvPr/>
        </p:nvSpPr>
        <p:spPr>
          <a:xfrm>
            <a:off x="6675120" y="2331720"/>
            <a:ext cx="4754880" cy="3566160"/>
          </a:xfrm>
          <a:prstGeom prst="rect">
            <a:avLst/>
          </a:prstGeom>
          <a:noFill/>
          <a:ln/>
        </p:spPr>
        <p:txBody>
          <a:bodyPr wrap="square" lIns="0" tIns="0" rIns="0" bIns="0" rtlCol="0" anchor="t"/>
          <a:lstStyle/>
          <a:p>
            <a:pPr>
              <a:spcAft>
                <a:spcPts val="1000"/>
              </a:spcAft>
              <a:buSzPct val="100000"/>
            </a:pPr>
            <a:r>
              <a:rPr lang="es-CL" noProof="0" dirty="0">
                <a:solidFill>
                  <a:srgbClr val="F3FBFA"/>
                </a:solidFill>
                <a:latin typeface="Calibri" pitchFamily="34" charset="0"/>
                <a:ea typeface="Calibri" pitchFamily="34" charset="-122"/>
                <a:cs typeface="Calibri" pitchFamily="34" charset="-120"/>
              </a:rPr>
              <a:t>Tiempo restringido al semestre académico (aprox. 18 semanas).</a:t>
            </a:r>
            <a:endParaRPr lang="es-CL" noProof="0" dirty="0"/>
          </a:p>
          <a:p>
            <a:pPr>
              <a:spcAft>
                <a:spcPts val="1000"/>
              </a:spcAft>
              <a:buSzPct val="100000"/>
            </a:pPr>
            <a:r>
              <a:rPr lang="es-CL" noProof="0" dirty="0">
                <a:solidFill>
                  <a:srgbClr val="F3FBFA"/>
                </a:solidFill>
                <a:latin typeface="Calibri" pitchFamily="34" charset="0"/>
                <a:ea typeface="Calibri" pitchFamily="34" charset="-122"/>
                <a:cs typeface="Calibri" pitchFamily="34" charset="-120"/>
              </a:rPr>
              <a:t>No incluye videollamadas, app móvil nativa ni integración con wearables.</a:t>
            </a:r>
            <a:endParaRPr lang="es-CL" noProof="0" dirty="0"/>
          </a:p>
          <a:p>
            <a:pPr>
              <a:spcAft>
                <a:spcPts val="1000"/>
              </a:spcAft>
              <a:buSzPct val="100000"/>
            </a:pPr>
            <a:r>
              <a:rPr lang="es-CL" noProof="0" dirty="0" err="1">
                <a:solidFill>
                  <a:srgbClr val="F3FBFA"/>
                </a:solidFill>
                <a:latin typeface="Calibri" pitchFamily="34" charset="0"/>
                <a:ea typeface="Calibri" pitchFamily="34" charset="-122"/>
                <a:cs typeface="Calibri" pitchFamily="34" charset="-120"/>
              </a:rPr>
              <a:t>MediaPipe</a:t>
            </a:r>
            <a:r>
              <a:rPr lang="es-CL" noProof="0" dirty="0">
                <a:solidFill>
                  <a:srgbClr val="F3FBFA"/>
                </a:solidFill>
                <a:latin typeface="Calibri" pitchFamily="34" charset="0"/>
                <a:ea typeface="Calibri" pitchFamily="34" charset="-122"/>
                <a:cs typeface="Calibri" pitchFamily="34" charset="-120"/>
              </a:rPr>
              <a:t> no reemplaza el criterio clínico del kinesiólogo, solo lo apoya.</a:t>
            </a:r>
            <a:endParaRPr lang="es-CL" noProof="0" dirty="0"/>
          </a:p>
          <a:p>
            <a:pPr>
              <a:spcAft>
                <a:spcPts val="1000"/>
              </a:spcAft>
              <a:buSzPct val="100000"/>
            </a:pPr>
            <a:r>
              <a:rPr lang="es-CL" noProof="0" dirty="0">
                <a:solidFill>
                  <a:srgbClr val="F3FBFA"/>
                </a:solidFill>
                <a:latin typeface="Calibri" pitchFamily="34" charset="0"/>
                <a:ea typeface="Calibri" pitchFamily="34" charset="-122"/>
                <a:cs typeface="Calibri" pitchFamily="34" charset="-120"/>
              </a:rPr>
              <a:t>Despliegue en infraestructura de nivel gratuito o académico.</a:t>
            </a:r>
            <a:endParaRPr lang="es-CL" noProof="0" dirty="0"/>
          </a:p>
        </p:txBody>
      </p:sp>
      <p:sp>
        <p:nvSpPr>
          <p:cNvPr id="10" name="Text 8"/>
          <p:cNvSpPr txBox="1"/>
          <p:nvPr/>
        </p:nvSpPr>
        <p:spPr>
          <a:xfrm>
            <a:off x="11338560" y="6537960"/>
            <a:ext cx="457200" cy="274320"/>
          </a:xfrm>
          <a:prstGeom prst="rect">
            <a:avLst/>
          </a:prstGeom>
          <a:noFill/>
          <a:ln/>
        </p:spPr>
        <p:txBody>
          <a:bodyPr wrap="square" lIns="0" tIns="0" rIns="0" bIns="0" rtlCol="0" anchor="ctr"/>
          <a:lstStyle/>
          <a:p>
            <a:pPr marL="0" indent="0" algn="r">
              <a:buNone/>
            </a:pPr>
            <a:r>
              <a:rPr lang="es-CL" sz="1000" noProof="0" dirty="0">
                <a:solidFill>
                  <a:srgbClr val="5C7A7D"/>
                </a:solidFill>
                <a:latin typeface="Calibri" pitchFamily="34" charset="0"/>
                <a:ea typeface="Calibri" pitchFamily="34" charset="-122"/>
                <a:cs typeface="Calibri" pitchFamily="34" charset="-120"/>
              </a:rPr>
              <a:t>8</a:t>
            </a:r>
            <a:endParaRPr lang="es-CL" sz="1000" noProof="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DFF4F3"/>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64240" cy="822960"/>
          </a:xfrm>
          <a:prstGeom prst="rect">
            <a:avLst/>
          </a:prstGeom>
          <a:noFill/>
          <a:ln/>
        </p:spPr>
        <p:txBody>
          <a:bodyPr wrap="square" lIns="0" tIns="0" rIns="0" bIns="0" rtlCol="0" anchor="ctr"/>
          <a:lstStyle/>
          <a:p>
            <a:pPr marL="0" indent="0" algn="l">
              <a:buNone/>
            </a:pPr>
            <a:r>
              <a:rPr lang="es-CL" sz="3200" b="1" noProof="0" dirty="0">
                <a:solidFill>
                  <a:srgbClr val="0F6D7A"/>
                </a:solidFill>
                <a:latin typeface="Calibri" pitchFamily="34" charset="0"/>
                <a:ea typeface="Calibri" pitchFamily="34" charset="-122"/>
                <a:cs typeface="Calibri" pitchFamily="34" charset="-120"/>
              </a:rPr>
              <a:t>Metodología</a:t>
            </a:r>
            <a:endParaRPr lang="es-CL" sz="3200" noProof="0" dirty="0"/>
          </a:p>
        </p:txBody>
      </p:sp>
      <p:sp>
        <p:nvSpPr>
          <p:cNvPr id="3" name="Text 1"/>
          <p:cNvSpPr txBox="1"/>
          <p:nvPr/>
        </p:nvSpPr>
        <p:spPr>
          <a:xfrm>
            <a:off x="2026034" y="2237622"/>
            <a:ext cx="8109452" cy="1005840"/>
          </a:xfrm>
          <a:prstGeom prst="rect">
            <a:avLst/>
          </a:prstGeom>
          <a:noFill/>
          <a:ln/>
        </p:spPr>
        <p:txBody>
          <a:bodyPr wrap="square" lIns="0" tIns="0" rIns="0" bIns="0" rtlCol="0" anchor="t"/>
          <a:lstStyle/>
          <a:p>
            <a:pPr marL="0" indent="0">
              <a:lnSpc>
                <a:spcPct val="120000"/>
              </a:lnSpc>
              <a:buNone/>
            </a:pPr>
            <a:r>
              <a:rPr lang="es-CL" sz="2400" noProof="0" dirty="0">
                <a:solidFill>
                  <a:srgbClr val="1F3A3D"/>
                </a:solidFill>
                <a:latin typeface="Calibri" pitchFamily="34" charset="0"/>
                <a:ea typeface="Calibri" pitchFamily="34" charset="-122"/>
                <a:cs typeface="Calibri" pitchFamily="34" charset="-120"/>
              </a:rPr>
              <a:t>Metodología ágil Scrum: desarrollo iterativo e incremental en </a:t>
            </a:r>
            <a:r>
              <a:rPr lang="es-CL" sz="2400" noProof="0" dirty="0" err="1">
                <a:solidFill>
                  <a:srgbClr val="1F3A3D"/>
                </a:solidFill>
                <a:latin typeface="Calibri" pitchFamily="34" charset="0"/>
                <a:ea typeface="Calibri" pitchFamily="34" charset="-122"/>
                <a:cs typeface="Calibri" pitchFamily="34" charset="-120"/>
              </a:rPr>
              <a:t>sprints</a:t>
            </a:r>
            <a:r>
              <a:rPr lang="es-CL" sz="2400" noProof="0" dirty="0">
                <a:solidFill>
                  <a:srgbClr val="1F3A3D"/>
                </a:solidFill>
                <a:latin typeface="Calibri" pitchFamily="34" charset="0"/>
                <a:ea typeface="Calibri" pitchFamily="34" charset="-122"/>
                <a:cs typeface="Calibri" pitchFamily="34" charset="-120"/>
              </a:rPr>
              <a:t>, priorizando el flujo transaccional central (registro, planes y alertas) y dejando un sprint temprano para validar el riesgo técnico de </a:t>
            </a:r>
            <a:r>
              <a:rPr lang="es-CL" sz="2400" noProof="0" dirty="0" err="1">
                <a:solidFill>
                  <a:srgbClr val="1F3A3D"/>
                </a:solidFill>
                <a:latin typeface="Calibri" pitchFamily="34" charset="0"/>
                <a:ea typeface="Calibri" pitchFamily="34" charset="-122"/>
                <a:cs typeface="Calibri" pitchFamily="34" charset="-120"/>
              </a:rPr>
              <a:t>MediaPipe</a:t>
            </a:r>
            <a:r>
              <a:rPr lang="es-CL" sz="2400" noProof="0" dirty="0">
                <a:solidFill>
                  <a:srgbClr val="1F3A3D"/>
                </a:solidFill>
                <a:latin typeface="Calibri" pitchFamily="34" charset="0"/>
                <a:ea typeface="Calibri" pitchFamily="34" charset="-122"/>
                <a:cs typeface="Calibri" pitchFamily="34" charset="-120"/>
              </a:rPr>
              <a:t> antes de comprometer el diseño final.</a:t>
            </a:r>
            <a:endParaRPr lang="es-CL" sz="2400" noProof="0" dirty="0"/>
          </a:p>
        </p:txBody>
      </p:sp>
      <p:sp>
        <p:nvSpPr>
          <p:cNvPr id="20" name="Text 18"/>
          <p:cNvSpPr txBox="1"/>
          <p:nvPr/>
        </p:nvSpPr>
        <p:spPr>
          <a:xfrm>
            <a:off x="11338560" y="6537960"/>
            <a:ext cx="457200" cy="274320"/>
          </a:xfrm>
          <a:prstGeom prst="rect">
            <a:avLst/>
          </a:prstGeom>
          <a:noFill/>
          <a:ln/>
        </p:spPr>
        <p:txBody>
          <a:bodyPr wrap="square" lIns="0" tIns="0" rIns="0" bIns="0" rtlCol="0" anchor="ctr"/>
          <a:lstStyle/>
          <a:p>
            <a:pPr marL="0" indent="0" algn="r">
              <a:buNone/>
            </a:pPr>
            <a:r>
              <a:rPr lang="es-CL" sz="1000" noProof="0" dirty="0">
                <a:solidFill>
                  <a:srgbClr val="5C7A7D"/>
                </a:solidFill>
                <a:latin typeface="Calibri" pitchFamily="34" charset="0"/>
                <a:ea typeface="Calibri" pitchFamily="34" charset="-122"/>
                <a:cs typeface="Calibri" pitchFamily="34" charset="-120"/>
              </a:rPr>
              <a:t>9</a:t>
            </a:r>
            <a:endParaRPr lang="es-CL" sz="1000" noProof="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DFF4F3"/>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64240" cy="822960"/>
          </a:xfrm>
          <a:prstGeom prst="rect">
            <a:avLst/>
          </a:prstGeom>
          <a:noFill/>
          <a:ln/>
        </p:spPr>
        <p:txBody>
          <a:bodyPr wrap="square" lIns="0" tIns="0" rIns="0" bIns="0" rtlCol="0" anchor="ctr"/>
          <a:lstStyle/>
          <a:p>
            <a:pPr marL="0" indent="0" algn="l">
              <a:buNone/>
            </a:pPr>
            <a:r>
              <a:rPr lang="es-CL" sz="3200" b="1" noProof="0" dirty="0">
                <a:solidFill>
                  <a:srgbClr val="0F6D7A"/>
                </a:solidFill>
                <a:latin typeface="Calibri" pitchFamily="34" charset="0"/>
                <a:ea typeface="Calibri" pitchFamily="34" charset="-122"/>
                <a:cs typeface="Calibri" pitchFamily="34" charset="-120"/>
              </a:rPr>
              <a:t>Tecnologías</a:t>
            </a:r>
            <a:endParaRPr lang="es-CL" sz="3200" noProof="0" dirty="0"/>
          </a:p>
        </p:txBody>
      </p:sp>
      <p:sp>
        <p:nvSpPr>
          <p:cNvPr id="3" name="Shape 1">
            <a:extLst>
              <a:ext uri="{C183D7F6-B498-43B3-948B-1728B52AA6E4}">
                <adec:decorative xmlns:adec="http://schemas.microsoft.com/office/drawing/2017/decorative" val="1"/>
              </a:ext>
            </a:extLst>
          </p:cNvPr>
          <p:cNvSpPr/>
          <p:nvPr/>
        </p:nvSpPr>
        <p:spPr>
          <a:xfrm>
            <a:off x="548640" y="1737360"/>
            <a:ext cx="2606040" cy="4114800"/>
          </a:xfrm>
          <a:prstGeom prst="roundRect">
            <a:avLst>
              <a:gd name="adj" fmla="val 4211"/>
            </a:avLst>
          </a:prstGeom>
          <a:solidFill>
            <a:srgbClr val="FFFFFF"/>
          </a:solidFill>
          <a:ln/>
          <a:effectLst>
            <a:outerShdw blurRad="63500" dist="25400" dir="5400000" algn="bl" rotWithShape="0">
              <a:srgbClr val="1F3A3D">
                <a:alpha val="12000"/>
              </a:srgbClr>
            </a:outerShdw>
          </a:effectLst>
        </p:spPr>
        <p:txBody>
          <a:bodyPr/>
          <a:lstStyle/>
          <a:p>
            <a:endParaRPr lang="es-CL" noProof="0" dirty="0"/>
          </a:p>
        </p:txBody>
      </p:sp>
      <p:pic>
        <p:nvPicPr>
          <p:cNvPr id="4" name="Image 0" descr="icons/react.png"/>
          <p:cNvPicPr>
            <a:picLocks noChangeAspect="1"/>
          </p:cNvPicPr>
          <p:nvPr/>
        </p:nvPicPr>
        <p:blipFill>
          <a:blip r:embed="rId3"/>
          <a:stretch>
            <a:fillRect/>
          </a:stretch>
        </p:blipFill>
        <p:spPr>
          <a:xfrm>
            <a:off x="1531620" y="2057400"/>
            <a:ext cx="640080" cy="640080"/>
          </a:xfrm>
          <a:prstGeom prst="rect">
            <a:avLst/>
          </a:prstGeom>
        </p:spPr>
      </p:pic>
      <p:sp>
        <p:nvSpPr>
          <p:cNvPr id="5" name="Text 2"/>
          <p:cNvSpPr txBox="1"/>
          <p:nvPr/>
        </p:nvSpPr>
        <p:spPr>
          <a:xfrm>
            <a:off x="731520" y="2880360"/>
            <a:ext cx="2240280" cy="411480"/>
          </a:xfrm>
          <a:prstGeom prst="rect">
            <a:avLst/>
          </a:prstGeom>
          <a:noFill/>
          <a:ln/>
        </p:spPr>
        <p:txBody>
          <a:bodyPr wrap="square" lIns="0" tIns="0" rIns="0" bIns="0" rtlCol="0" anchor="ctr"/>
          <a:lstStyle/>
          <a:p>
            <a:pPr marL="0" indent="0" algn="ctr">
              <a:buNone/>
            </a:pPr>
            <a:r>
              <a:rPr lang="es-CL" sz="2000" b="1" noProof="0" dirty="0" err="1">
                <a:solidFill>
                  <a:srgbClr val="0F6D7A"/>
                </a:solidFill>
                <a:latin typeface="Calibri" pitchFamily="34" charset="0"/>
                <a:ea typeface="Calibri" pitchFamily="34" charset="-122"/>
                <a:cs typeface="Calibri" pitchFamily="34" charset="-120"/>
              </a:rPr>
              <a:t>React</a:t>
            </a:r>
            <a:endParaRPr lang="es-CL" sz="2000" noProof="0" dirty="0"/>
          </a:p>
        </p:txBody>
      </p:sp>
      <p:sp>
        <p:nvSpPr>
          <p:cNvPr id="6" name="Text 3"/>
          <p:cNvSpPr txBox="1"/>
          <p:nvPr/>
        </p:nvSpPr>
        <p:spPr>
          <a:xfrm>
            <a:off x="731520" y="3337560"/>
            <a:ext cx="2240280" cy="2286000"/>
          </a:xfrm>
          <a:prstGeom prst="rect">
            <a:avLst/>
          </a:prstGeom>
          <a:noFill/>
          <a:ln/>
        </p:spPr>
        <p:txBody>
          <a:bodyPr wrap="square" lIns="0" tIns="0" rIns="0" bIns="0" rtlCol="0" anchor="t"/>
          <a:lstStyle/>
          <a:p>
            <a:pPr marL="0" indent="0" algn="ctr">
              <a:buNone/>
            </a:pPr>
            <a:r>
              <a:rPr lang="es-CL" noProof="0" dirty="0">
                <a:solidFill>
                  <a:srgbClr val="1F3A3D"/>
                </a:solidFill>
                <a:latin typeface="Calibri" pitchFamily="34" charset="0"/>
                <a:ea typeface="Calibri" pitchFamily="34" charset="-122"/>
                <a:cs typeface="Calibri" pitchFamily="34" charset="-120"/>
              </a:rPr>
              <a:t>Desarrollo del </a:t>
            </a:r>
            <a:r>
              <a:rPr lang="es-CL" noProof="0" dirty="0" err="1">
                <a:solidFill>
                  <a:srgbClr val="1F3A3D"/>
                </a:solidFill>
                <a:latin typeface="Calibri" pitchFamily="34" charset="0"/>
                <a:ea typeface="Calibri" pitchFamily="34" charset="-122"/>
                <a:cs typeface="Calibri" pitchFamily="34" charset="-120"/>
              </a:rPr>
              <a:t>frontend</a:t>
            </a:r>
            <a:r>
              <a:rPr lang="es-CL" noProof="0" dirty="0">
                <a:solidFill>
                  <a:srgbClr val="1F3A3D"/>
                </a:solidFill>
                <a:latin typeface="Calibri" pitchFamily="34" charset="0"/>
                <a:ea typeface="Calibri" pitchFamily="34" charset="-122"/>
                <a:cs typeface="Calibri" pitchFamily="34" charset="-120"/>
              </a:rPr>
              <a:t> web responsive.</a:t>
            </a:r>
            <a:endParaRPr lang="es-CL" noProof="0" dirty="0"/>
          </a:p>
        </p:txBody>
      </p:sp>
      <p:sp>
        <p:nvSpPr>
          <p:cNvPr id="7" name="Shape 4">
            <a:extLst>
              <a:ext uri="{C183D7F6-B498-43B3-948B-1728B52AA6E4}">
                <adec:decorative xmlns:adec="http://schemas.microsoft.com/office/drawing/2017/decorative" val="1"/>
              </a:ext>
            </a:extLst>
          </p:cNvPr>
          <p:cNvSpPr/>
          <p:nvPr/>
        </p:nvSpPr>
        <p:spPr>
          <a:xfrm>
            <a:off x="3337560" y="1737360"/>
            <a:ext cx="2606040" cy="4114800"/>
          </a:xfrm>
          <a:prstGeom prst="roundRect">
            <a:avLst>
              <a:gd name="adj" fmla="val 4211"/>
            </a:avLst>
          </a:prstGeom>
          <a:solidFill>
            <a:srgbClr val="FFFFFF"/>
          </a:solidFill>
          <a:ln/>
          <a:effectLst>
            <a:outerShdw blurRad="63500" dist="25400" dir="5400000" algn="bl" rotWithShape="0">
              <a:srgbClr val="1F3A3D">
                <a:alpha val="12000"/>
              </a:srgbClr>
            </a:outerShdw>
          </a:effectLst>
        </p:spPr>
        <p:txBody>
          <a:bodyPr/>
          <a:lstStyle/>
          <a:p>
            <a:endParaRPr lang="es-CL" noProof="0" dirty="0"/>
          </a:p>
        </p:txBody>
      </p:sp>
      <p:pic>
        <p:nvPicPr>
          <p:cNvPr id="8" name="Image 1" descr="icons/camera.png"/>
          <p:cNvPicPr>
            <a:picLocks noChangeAspect="1"/>
          </p:cNvPicPr>
          <p:nvPr/>
        </p:nvPicPr>
        <p:blipFill>
          <a:blip r:embed="rId4"/>
          <a:stretch>
            <a:fillRect/>
          </a:stretch>
        </p:blipFill>
        <p:spPr>
          <a:xfrm>
            <a:off x="4320540" y="2057400"/>
            <a:ext cx="640080" cy="640080"/>
          </a:xfrm>
          <a:prstGeom prst="rect">
            <a:avLst/>
          </a:prstGeom>
        </p:spPr>
      </p:pic>
      <p:sp>
        <p:nvSpPr>
          <p:cNvPr id="9" name="Text 5"/>
          <p:cNvSpPr txBox="1"/>
          <p:nvPr/>
        </p:nvSpPr>
        <p:spPr>
          <a:xfrm>
            <a:off x="3520440" y="2880360"/>
            <a:ext cx="2240280" cy="411480"/>
          </a:xfrm>
          <a:prstGeom prst="rect">
            <a:avLst/>
          </a:prstGeom>
          <a:noFill/>
          <a:ln/>
        </p:spPr>
        <p:txBody>
          <a:bodyPr wrap="square" lIns="0" tIns="0" rIns="0" bIns="0" rtlCol="0" anchor="ctr"/>
          <a:lstStyle/>
          <a:p>
            <a:pPr marL="0" indent="0" algn="ctr">
              <a:buNone/>
            </a:pPr>
            <a:r>
              <a:rPr lang="es-CL" sz="2000" b="1" noProof="0" dirty="0" err="1">
                <a:solidFill>
                  <a:srgbClr val="0F6D7A"/>
                </a:solidFill>
                <a:latin typeface="Calibri" pitchFamily="34" charset="0"/>
                <a:ea typeface="Calibri" pitchFamily="34" charset="-122"/>
                <a:cs typeface="Calibri" pitchFamily="34" charset="-120"/>
              </a:rPr>
              <a:t>MediaPipe</a:t>
            </a:r>
            <a:endParaRPr lang="es-CL" sz="2000" noProof="0" dirty="0"/>
          </a:p>
        </p:txBody>
      </p:sp>
      <p:sp>
        <p:nvSpPr>
          <p:cNvPr id="10" name="Text 6"/>
          <p:cNvSpPr txBox="1"/>
          <p:nvPr/>
        </p:nvSpPr>
        <p:spPr>
          <a:xfrm>
            <a:off x="3520440" y="3337560"/>
            <a:ext cx="2240280" cy="2286000"/>
          </a:xfrm>
          <a:prstGeom prst="rect">
            <a:avLst/>
          </a:prstGeom>
          <a:noFill/>
          <a:ln/>
        </p:spPr>
        <p:txBody>
          <a:bodyPr wrap="square" lIns="0" tIns="0" rIns="0" bIns="0" rtlCol="0" anchor="t"/>
          <a:lstStyle/>
          <a:p>
            <a:pPr marL="0" indent="0" algn="ctr">
              <a:buNone/>
            </a:pPr>
            <a:r>
              <a:rPr lang="es-CL" noProof="0" dirty="0">
                <a:solidFill>
                  <a:srgbClr val="1F3A3D"/>
                </a:solidFill>
                <a:latin typeface="Calibri" pitchFamily="34" charset="0"/>
                <a:ea typeface="Calibri" pitchFamily="34" charset="-122"/>
                <a:cs typeface="Calibri" pitchFamily="34" charset="-120"/>
              </a:rPr>
              <a:t>Visión computacional </a:t>
            </a:r>
            <a:r>
              <a:rPr lang="es-CL" noProof="0" dirty="0" err="1">
                <a:solidFill>
                  <a:srgbClr val="1F3A3D"/>
                </a:solidFill>
                <a:latin typeface="Calibri" pitchFamily="34" charset="0"/>
                <a:ea typeface="Calibri" pitchFamily="34" charset="-122"/>
                <a:cs typeface="Calibri" pitchFamily="34" charset="-120"/>
              </a:rPr>
              <a:t>on-device</a:t>
            </a:r>
            <a:r>
              <a:rPr lang="es-CL" noProof="0" dirty="0">
                <a:solidFill>
                  <a:srgbClr val="1F3A3D"/>
                </a:solidFill>
                <a:latin typeface="Calibri" pitchFamily="34" charset="0"/>
                <a:ea typeface="Calibri" pitchFamily="34" charset="-122"/>
                <a:cs typeface="Calibri" pitchFamily="34" charset="-120"/>
              </a:rPr>
              <a:t> (Edge AI).</a:t>
            </a:r>
            <a:endParaRPr lang="es-CL" noProof="0" dirty="0"/>
          </a:p>
        </p:txBody>
      </p:sp>
      <p:sp>
        <p:nvSpPr>
          <p:cNvPr id="11" name="Shape 7">
            <a:extLst>
              <a:ext uri="{C183D7F6-B498-43B3-948B-1728B52AA6E4}">
                <adec:decorative xmlns:adec="http://schemas.microsoft.com/office/drawing/2017/decorative" val="1"/>
              </a:ext>
            </a:extLst>
          </p:cNvPr>
          <p:cNvSpPr/>
          <p:nvPr/>
        </p:nvSpPr>
        <p:spPr>
          <a:xfrm>
            <a:off x="6126480" y="1737360"/>
            <a:ext cx="2606040" cy="4114800"/>
          </a:xfrm>
          <a:prstGeom prst="roundRect">
            <a:avLst>
              <a:gd name="adj" fmla="val 4211"/>
            </a:avLst>
          </a:prstGeom>
          <a:solidFill>
            <a:srgbClr val="FFFFFF"/>
          </a:solidFill>
          <a:ln/>
          <a:effectLst>
            <a:outerShdw blurRad="63500" dist="25400" dir="5400000" algn="bl" rotWithShape="0">
              <a:srgbClr val="1F3A3D">
                <a:alpha val="12000"/>
              </a:srgbClr>
            </a:outerShdw>
          </a:effectLst>
        </p:spPr>
        <p:txBody>
          <a:bodyPr/>
          <a:lstStyle/>
          <a:p>
            <a:endParaRPr lang="es-CL" noProof="0" dirty="0"/>
          </a:p>
        </p:txBody>
      </p:sp>
      <p:pic>
        <p:nvPicPr>
          <p:cNvPr id="12" name="Image 2" descr="icons/supabase.png"/>
          <p:cNvPicPr>
            <a:picLocks noChangeAspect="1"/>
          </p:cNvPicPr>
          <p:nvPr/>
        </p:nvPicPr>
        <p:blipFill>
          <a:blip r:embed="rId5"/>
          <a:stretch>
            <a:fillRect/>
          </a:stretch>
        </p:blipFill>
        <p:spPr>
          <a:xfrm>
            <a:off x="7109460" y="2057400"/>
            <a:ext cx="640080" cy="640080"/>
          </a:xfrm>
          <a:prstGeom prst="rect">
            <a:avLst/>
          </a:prstGeom>
        </p:spPr>
      </p:pic>
      <p:sp>
        <p:nvSpPr>
          <p:cNvPr id="13" name="Text 8"/>
          <p:cNvSpPr txBox="1"/>
          <p:nvPr/>
        </p:nvSpPr>
        <p:spPr>
          <a:xfrm>
            <a:off x="6309360" y="2880360"/>
            <a:ext cx="2240280" cy="411480"/>
          </a:xfrm>
          <a:prstGeom prst="rect">
            <a:avLst/>
          </a:prstGeom>
          <a:noFill/>
          <a:ln/>
        </p:spPr>
        <p:txBody>
          <a:bodyPr wrap="square" lIns="0" tIns="0" rIns="0" bIns="0" rtlCol="0" anchor="ctr"/>
          <a:lstStyle/>
          <a:p>
            <a:pPr marL="0" indent="0" algn="ctr">
              <a:buNone/>
            </a:pPr>
            <a:r>
              <a:rPr lang="es-CL" sz="2000" b="1" noProof="0" dirty="0" err="1">
                <a:solidFill>
                  <a:srgbClr val="0F6D7A"/>
                </a:solidFill>
                <a:latin typeface="Calibri" pitchFamily="34" charset="0"/>
                <a:ea typeface="Calibri" pitchFamily="34" charset="-122"/>
                <a:cs typeface="Calibri" pitchFamily="34" charset="-120"/>
              </a:rPr>
              <a:t>Supabase</a:t>
            </a:r>
            <a:endParaRPr lang="es-CL" sz="2000" noProof="0" dirty="0"/>
          </a:p>
        </p:txBody>
      </p:sp>
      <p:sp>
        <p:nvSpPr>
          <p:cNvPr id="14" name="Text 9"/>
          <p:cNvSpPr txBox="1"/>
          <p:nvPr/>
        </p:nvSpPr>
        <p:spPr>
          <a:xfrm>
            <a:off x="6309360" y="3337560"/>
            <a:ext cx="2240280" cy="2286000"/>
          </a:xfrm>
          <a:prstGeom prst="rect">
            <a:avLst/>
          </a:prstGeom>
          <a:noFill/>
          <a:ln/>
        </p:spPr>
        <p:txBody>
          <a:bodyPr wrap="square" lIns="0" tIns="0" rIns="0" bIns="0" rtlCol="0" anchor="t"/>
          <a:lstStyle/>
          <a:p>
            <a:pPr marL="0" indent="0" algn="ctr">
              <a:buNone/>
            </a:pPr>
            <a:r>
              <a:rPr lang="es-CL" noProof="0" dirty="0" err="1">
                <a:solidFill>
                  <a:srgbClr val="1F3A3D"/>
                </a:solidFill>
                <a:latin typeface="Calibri" pitchFamily="34" charset="0"/>
                <a:ea typeface="Calibri" pitchFamily="34" charset="-122"/>
                <a:cs typeface="Calibri" pitchFamily="34" charset="-120"/>
              </a:rPr>
              <a:t>Backend</a:t>
            </a:r>
            <a:r>
              <a:rPr lang="es-CL" noProof="0" dirty="0">
                <a:solidFill>
                  <a:srgbClr val="1F3A3D"/>
                </a:solidFill>
                <a:latin typeface="Calibri" pitchFamily="34" charset="0"/>
                <a:ea typeface="Calibri" pitchFamily="34" charset="-122"/>
                <a:cs typeface="Calibri" pitchFamily="34" charset="-120"/>
              </a:rPr>
              <a:t> as a Service: base de datos, autenticación y notificaciones en tiempo real.</a:t>
            </a:r>
            <a:endParaRPr lang="es-CL" noProof="0" dirty="0"/>
          </a:p>
        </p:txBody>
      </p:sp>
      <p:sp>
        <p:nvSpPr>
          <p:cNvPr id="15" name="Shape 10">
            <a:extLst>
              <a:ext uri="{C183D7F6-B498-43B3-948B-1728B52AA6E4}">
                <adec:decorative xmlns:adec="http://schemas.microsoft.com/office/drawing/2017/decorative" val="1"/>
              </a:ext>
            </a:extLst>
          </p:cNvPr>
          <p:cNvSpPr/>
          <p:nvPr/>
        </p:nvSpPr>
        <p:spPr>
          <a:xfrm>
            <a:off x="8915400" y="1737360"/>
            <a:ext cx="2606040" cy="4114800"/>
          </a:xfrm>
          <a:prstGeom prst="roundRect">
            <a:avLst>
              <a:gd name="adj" fmla="val 4211"/>
            </a:avLst>
          </a:prstGeom>
          <a:solidFill>
            <a:srgbClr val="FFFFFF"/>
          </a:solidFill>
          <a:ln/>
          <a:effectLst>
            <a:outerShdw blurRad="63500" dist="25400" dir="5400000" algn="bl" rotWithShape="0">
              <a:srgbClr val="1F3A3D">
                <a:alpha val="12000"/>
              </a:srgbClr>
            </a:outerShdw>
          </a:effectLst>
        </p:spPr>
        <p:txBody>
          <a:bodyPr/>
          <a:lstStyle/>
          <a:p>
            <a:endParaRPr lang="es-CL" noProof="0" dirty="0"/>
          </a:p>
        </p:txBody>
      </p:sp>
      <p:pic>
        <p:nvPicPr>
          <p:cNvPr id="16" name="Image 3" descr="icons/github.png"/>
          <p:cNvPicPr>
            <a:picLocks noChangeAspect="1"/>
          </p:cNvPicPr>
          <p:nvPr/>
        </p:nvPicPr>
        <p:blipFill>
          <a:blip r:embed="rId6"/>
          <a:stretch>
            <a:fillRect/>
          </a:stretch>
        </p:blipFill>
        <p:spPr>
          <a:xfrm>
            <a:off x="9898380" y="2057400"/>
            <a:ext cx="640080" cy="640080"/>
          </a:xfrm>
          <a:prstGeom prst="rect">
            <a:avLst/>
          </a:prstGeom>
        </p:spPr>
      </p:pic>
      <p:sp>
        <p:nvSpPr>
          <p:cNvPr id="17" name="Text 11"/>
          <p:cNvSpPr txBox="1"/>
          <p:nvPr/>
        </p:nvSpPr>
        <p:spPr>
          <a:xfrm>
            <a:off x="9098280" y="2880360"/>
            <a:ext cx="2240280" cy="411480"/>
          </a:xfrm>
          <a:prstGeom prst="rect">
            <a:avLst/>
          </a:prstGeom>
          <a:noFill/>
          <a:ln/>
        </p:spPr>
        <p:txBody>
          <a:bodyPr wrap="square" lIns="0" tIns="0" rIns="0" bIns="0" rtlCol="0" anchor="ctr"/>
          <a:lstStyle/>
          <a:p>
            <a:pPr marL="0" indent="0" algn="ctr">
              <a:buNone/>
            </a:pPr>
            <a:r>
              <a:rPr lang="es-CL" sz="1500" b="1" noProof="0" dirty="0">
                <a:solidFill>
                  <a:srgbClr val="0F6D7A"/>
                </a:solidFill>
                <a:latin typeface="Calibri" pitchFamily="34" charset="0"/>
                <a:ea typeface="Calibri" pitchFamily="34" charset="-122"/>
                <a:cs typeface="Calibri" pitchFamily="34" charset="-120"/>
              </a:rPr>
              <a:t>GitHub</a:t>
            </a:r>
            <a:endParaRPr lang="es-CL" sz="1500" noProof="0" dirty="0"/>
          </a:p>
        </p:txBody>
      </p:sp>
      <p:sp>
        <p:nvSpPr>
          <p:cNvPr id="18" name="Text 12"/>
          <p:cNvSpPr txBox="1"/>
          <p:nvPr/>
        </p:nvSpPr>
        <p:spPr>
          <a:xfrm>
            <a:off x="9098280" y="3337560"/>
            <a:ext cx="2240280" cy="2286000"/>
          </a:xfrm>
          <a:prstGeom prst="rect">
            <a:avLst/>
          </a:prstGeom>
          <a:noFill/>
          <a:ln/>
        </p:spPr>
        <p:txBody>
          <a:bodyPr wrap="square" lIns="0" tIns="0" rIns="0" bIns="0" rtlCol="0" anchor="t"/>
          <a:lstStyle/>
          <a:p>
            <a:pPr marL="0" indent="0" algn="ctr">
              <a:buNone/>
            </a:pPr>
            <a:r>
              <a:rPr lang="es-CL" noProof="0" dirty="0">
                <a:solidFill>
                  <a:srgbClr val="1F3A3D"/>
                </a:solidFill>
                <a:latin typeface="Calibri" pitchFamily="34" charset="0"/>
                <a:ea typeface="Calibri" pitchFamily="34" charset="-122"/>
                <a:cs typeface="Calibri" pitchFamily="34" charset="-120"/>
              </a:rPr>
              <a:t>Control de versiones y trabajo colaborativo del equipo.</a:t>
            </a:r>
            <a:endParaRPr lang="es-CL" noProof="0" dirty="0"/>
          </a:p>
        </p:txBody>
      </p:sp>
      <p:sp>
        <p:nvSpPr>
          <p:cNvPr id="20" name="Text 14"/>
          <p:cNvSpPr txBox="1"/>
          <p:nvPr/>
        </p:nvSpPr>
        <p:spPr>
          <a:xfrm>
            <a:off x="11338560" y="6537960"/>
            <a:ext cx="457200" cy="274320"/>
          </a:xfrm>
          <a:prstGeom prst="rect">
            <a:avLst/>
          </a:prstGeom>
          <a:noFill/>
          <a:ln/>
        </p:spPr>
        <p:txBody>
          <a:bodyPr wrap="square" lIns="0" tIns="0" rIns="0" bIns="0" rtlCol="0" anchor="ctr"/>
          <a:lstStyle/>
          <a:p>
            <a:pPr marL="0" indent="0" algn="r">
              <a:buNone/>
            </a:pPr>
            <a:r>
              <a:rPr lang="es-CL" sz="1000" noProof="0" dirty="0">
                <a:solidFill>
                  <a:srgbClr val="5C7A7D"/>
                </a:solidFill>
                <a:latin typeface="Calibri" pitchFamily="34" charset="0"/>
                <a:ea typeface="Calibri" pitchFamily="34" charset="-122"/>
                <a:cs typeface="Calibri" pitchFamily="34" charset="-120"/>
              </a:rPr>
              <a:t>10</a:t>
            </a:r>
            <a:endParaRPr lang="es-CL" sz="1000" noProof="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DFF4F3"/>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1064240" cy="822960"/>
          </a:xfrm>
          <a:prstGeom prst="rect">
            <a:avLst/>
          </a:prstGeom>
          <a:noFill/>
          <a:ln/>
        </p:spPr>
        <p:txBody>
          <a:bodyPr wrap="square" lIns="0" tIns="0" rIns="0" bIns="0" rtlCol="0" anchor="ctr"/>
          <a:lstStyle/>
          <a:p>
            <a:pPr marL="0" indent="0" algn="l">
              <a:buNone/>
            </a:pPr>
            <a:r>
              <a:rPr lang="es-CL" sz="3200" b="1" noProof="0" dirty="0">
                <a:solidFill>
                  <a:srgbClr val="0F6D7A"/>
                </a:solidFill>
                <a:latin typeface="Calibri" pitchFamily="34" charset="0"/>
                <a:ea typeface="Calibri" pitchFamily="34" charset="-122"/>
                <a:cs typeface="Calibri" pitchFamily="34" charset="-120"/>
              </a:rPr>
              <a:t>Cronograma</a:t>
            </a:r>
            <a:endParaRPr lang="es-CL" sz="3200" noProof="0" dirty="0"/>
          </a:p>
        </p:txBody>
      </p:sp>
      <p:sp>
        <p:nvSpPr>
          <p:cNvPr id="6" name="Text 4"/>
          <p:cNvSpPr txBox="1"/>
          <p:nvPr/>
        </p:nvSpPr>
        <p:spPr>
          <a:xfrm>
            <a:off x="11338560" y="6537960"/>
            <a:ext cx="457200" cy="274320"/>
          </a:xfrm>
          <a:prstGeom prst="rect">
            <a:avLst/>
          </a:prstGeom>
          <a:noFill/>
          <a:ln/>
        </p:spPr>
        <p:txBody>
          <a:bodyPr wrap="square" lIns="0" tIns="0" rIns="0" bIns="0" rtlCol="0" anchor="ctr"/>
          <a:lstStyle/>
          <a:p>
            <a:pPr marL="0" indent="0" algn="r">
              <a:buNone/>
            </a:pPr>
            <a:r>
              <a:rPr lang="es-CL" sz="1000" noProof="0" dirty="0">
                <a:solidFill>
                  <a:srgbClr val="5C7A7D"/>
                </a:solidFill>
                <a:latin typeface="Calibri" pitchFamily="34" charset="0"/>
                <a:ea typeface="Calibri" pitchFamily="34" charset="-122"/>
                <a:cs typeface="Calibri" pitchFamily="34" charset="-120"/>
              </a:rPr>
              <a:t>11</a:t>
            </a:r>
            <a:endParaRPr lang="es-CL" sz="1000" noProof="0" dirty="0"/>
          </a:p>
        </p:txBody>
      </p:sp>
      <p:pic>
        <p:nvPicPr>
          <p:cNvPr id="8" name="Imagen 7">
            <a:extLst>
              <a:ext uri="{FF2B5EF4-FFF2-40B4-BE49-F238E27FC236}">
                <a16:creationId xmlns:a16="http://schemas.microsoft.com/office/drawing/2014/main" id="{7B06A1A0-C30A-1D31-AE85-E36F2B8B3B69}"/>
              </a:ext>
            </a:extLst>
          </p:cNvPr>
          <p:cNvPicPr>
            <a:picLocks noChangeAspect="1"/>
          </p:cNvPicPr>
          <p:nvPr/>
        </p:nvPicPr>
        <p:blipFill>
          <a:blip r:embed="rId3"/>
          <a:stretch>
            <a:fillRect/>
          </a:stretch>
        </p:blipFill>
        <p:spPr>
          <a:xfrm>
            <a:off x="0" y="1188720"/>
            <a:ext cx="12192000" cy="534923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0B4F52"/>
        </a:solidFill>
        <a:effectLst/>
      </p:bgPr>
    </p:bg>
    <p:spTree>
      <p:nvGrpSpPr>
        <p:cNvPr id="1" name=""/>
        <p:cNvGrpSpPr/>
        <p:nvPr/>
      </p:nvGrpSpPr>
      <p:grpSpPr>
        <a:xfrm>
          <a:off x="0" y="0"/>
          <a:ext cx="0" cy="0"/>
          <a:chOff x="0" y="0"/>
          <a:chExt cx="0" cy="0"/>
        </a:xfrm>
      </p:grpSpPr>
      <p:sp>
        <p:nvSpPr>
          <p:cNvPr id="2" name="Shape 0">
            <a:extLst>
              <a:ext uri="{C183D7F6-B498-43B3-948B-1728B52AA6E4}">
                <adec:decorative xmlns:adec="http://schemas.microsoft.com/office/drawing/2017/decorative" val="1"/>
              </a:ext>
            </a:extLst>
          </p:cNvPr>
          <p:cNvSpPr/>
          <p:nvPr/>
        </p:nvSpPr>
        <p:spPr>
          <a:xfrm>
            <a:off x="9144000" y="-1828800"/>
            <a:ext cx="5486400" cy="5486400"/>
          </a:xfrm>
          <a:prstGeom prst="ellipse">
            <a:avLst/>
          </a:prstGeom>
          <a:solidFill>
            <a:srgbClr val="0F6D7A">
              <a:alpha val="55000"/>
            </a:srgbClr>
          </a:solidFill>
          <a:ln/>
        </p:spPr>
        <p:txBody>
          <a:bodyPr/>
          <a:lstStyle/>
          <a:p>
            <a:endParaRPr lang="es-CL" noProof="0" dirty="0"/>
          </a:p>
        </p:txBody>
      </p:sp>
      <p:sp>
        <p:nvSpPr>
          <p:cNvPr id="3" name="Text 1"/>
          <p:cNvSpPr txBox="1"/>
          <p:nvPr/>
        </p:nvSpPr>
        <p:spPr>
          <a:xfrm>
            <a:off x="548640" y="365760"/>
            <a:ext cx="11064240" cy="822960"/>
          </a:xfrm>
          <a:prstGeom prst="rect">
            <a:avLst/>
          </a:prstGeom>
          <a:noFill/>
          <a:ln/>
        </p:spPr>
        <p:txBody>
          <a:bodyPr wrap="square" lIns="0" tIns="0" rIns="0" bIns="0" rtlCol="0" anchor="ctr"/>
          <a:lstStyle/>
          <a:p>
            <a:pPr marL="0" indent="0" algn="l">
              <a:buNone/>
            </a:pPr>
            <a:r>
              <a:rPr lang="es-CL" sz="3200" b="1" noProof="0" dirty="0">
                <a:solidFill>
                  <a:srgbClr val="FFFFFF"/>
                </a:solidFill>
                <a:latin typeface="Calibri" pitchFamily="34" charset="0"/>
                <a:ea typeface="Calibri" pitchFamily="34" charset="-122"/>
                <a:cs typeface="Calibri" pitchFamily="34" charset="-120"/>
              </a:rPr>
              <a:t>Comentario Final</a:t>
            </a:r>
            <a:endParaRPr lang="es-CL" sz="3200" noProof="0" dirty="0"/>
          </a:p>
        </p:txBody>
      </p:sp>
      <p:sp>
        <p:nvSpPr>
          <p:cNvPr id="4" name="Text 2"/>
          <p:cNvSpPr txBox="1"/>
          <p:nvPr/>
        </p:nvSpPr>
        <p:spPr>
          <a:xfrm>
            <a:off x="822960" y="1737360"/>
            <a:ext cx="10332720" cy="4114800"/>
          </a:xfrm>
          <a:prstGeom prst="rect">
            <a:avLst/>
          </a:prstGeom>
          <a:noFill/>
          <a:ln/>
        </p:spPr>
        <p:txBody>
          <a:bodyPr wrap="square" lIns="0" tIns="0" rIns="0" bIns="0" rtlCol="0" anchor="t"/>
          <a:lstStyle/>
          <a:p>
            <a:pPr>
              <a:spcAft>
                <a:spcPts val="1400"/>
              </a:spcAft>
              <a:buSzPct val="100000"/>
            </a:pPr>
            <a:r>
              <a:rPr lang="es-CL" sz="2000" noProof="0" dirty="0" err="1">
                <a:solidFill>
                  <a:srgbClr val="F3FBFA"/>
                </a:solidFill>
                <a:latin typeface="Calibri" pitchFamily="34" charset="0"/>
                <a:ea typeface="Calibri" pitchFamily="34" charset="-122"/>
                <a:cs typeface="Calibri" pitchFamily="34" charset="-120"/>
              </a:rPr>
              <a:t>KineTrack</a:t>
            </a:r>
            <a:r>
              <a:rPr lang="es-CL" sz="2000" noProof="0" dirty="0">
                <a:solidFill>
                  <a:srgbClr val="F3FBFA"/>
                </a:solidFill>
                <a:latin typeface="Calibri" pitchFamily="34" charset="0"/>
                <a:ea typeface="Calibri" pitchFamily="34" charset="-122"/>
                <a:cs typeface="Calibri" pitchFamily="34" charset="-120"/>
              </a:rPr>
              <a:t> transforma un seguimiento hoy manual y disperso en un sistema centralizado, trazable y con alertas oportunas.</a:t>
            </a:r>
            <a:endParaRPr lang="es-CL" sz="2000" noProof="0" dirty="0"/>
          </a:p>
          <a:p>
            <a:pPr>
              <a:spcAft>
                <a:spcPts val="1400"/>
              </a:spcAft>
              <a:buSzPct val="100000"/>
            </a:pPr>
            <a:r>
              <a:rPr lang="es-CL" sz="2000" noProof="0" dirty="0">
                <a:solidFill>
                  <a:srgbClr val="F3FBFA"/>
                </a:solidFill>
                <a:latin typeface="Calibri" pitchFamily="34" charset="0"/>
                <a:ea typeface="Calibri" pitchFamily="34" charset="-122"/>
                <a:cs typeface="Calibri" pitchFamily="34" charset="-120"/>
              </a:rPr>
              <a:t>El sistema de escalamiento automático asegura que ninguna molestia o período de inactividad quede sin atención.</a:t>
            </a:r>
            <a:endParaRPr lang="es-CL" sz="2000" noProof="0" dirty="0"/>
          </a:p>
          <a:p>
            <a:pPr>
              <a:spcAft>
                <a:spcPts val="1400"/>
              </a:spcAft>
              <a:buSzPct val="100000"/>
            </a:pPr>
            <a:r>
              <a:rPr lang="es-CL" sz="2000" noProof="0" dirty="0">
                <a:solidFill>
                  <a:srgbClr val="F3FBFA"/>
                </a:solidFill>
                <a:latin typeface="Calibri" pitchFamily="34" charset="0"/>
                <a:ea typeface="Calibri" pitchFamily="34" charset="-122"/>
                <a:cs typeface="Calibri" pitchFamily="34" charset="-120"/>
              </a:rPr>
              <a:t>La visión computacional (</a:t>
            </a:r>
            <a:r>
              <a:rPr lang="es-CL" sz="2000" noProof="0" dirty="0" err="1">
                <a:solidFill>
                  <a:srgbClr val="F3FBFA"/>
                </a:solidFill>
                <a:latin typeface="Calibri" pitchFamily="34" charset="0"/>
                <a:ea typeface="Calibri" pitchFamily="34" charset="-122"/>
                <a:cs typeface="Calibri" pitchFamily="34" charset="-120"/>
              </a:rPr>
              <a:t>MediaPipe</a:t>
            </a:r>
            <a:r>
              <a:rPr lang="es-CL" sz="2000" noProof="0" dirty="0">
                <a:solidFill>
                  <a:srgbClr val="F3FBFA"/>
                </a:solidFill>
                <a:latin typeface="Calibri" pitchFamily="34" charset="0"/>
                <a:ea typeface="Calibri" pitchFamily="34" charset="-122"/>
                <a:cs typeface="Calibri" pitchFamily="34" charset="-120"/>
              </a:rPr>
              <a:t>) aporta valor como apoyo visual, sin reemplazar el criterio clínico del kinesiólogo ni comprometer la privacidad del paciente.</a:t>
            </a:r>
            <a:endParaRPr lang="es-CL" sz="2000" noProof="0" dirty="0"/>
          </a:p>
          <a:p>
            <a:pPr>
              <a:spcAft>
                <a:spcPts val="1400"/>
              </a:spcAft>
              <a:buSzPct val="100000"/>
            </a:pPr>
            <a:r>
              <a:rPr lang="es-CL" sz="2000" noProof="0" dirty="0">
                <a:solidFill>
                  <a:srgbClr val="F3FBFA"/>
                </a:solidFill>
                <a:latin typeface="Calibri" pitchFamily="34" charset="0"/>
                <a:ea typeface="Calibri" pitchFamily="34" charset="-122"/>
                <a:cs typeface="Calibri" pitchFamily="34" charset="-120"/>
              </a:rPr>
              <a:t>Los objetivos definidos con KPI permiten medir el impacto real del proyecto: tiempos de respuesta, adherencia y cierre de tratamientos.</a:t>
            </a:r>
            <a:endParaRPr lang="es-CL" sz="2000" noProof="0" dirty="0"/>
          </a:p>
        </p:txBody>
      </p:sp>
      <p:sp>
        <p:nvSpPr>
          <p:cNvPr id="5" name="Text 3"/>
          <p:cNvSpPr txBox="1"/>
          <p:nvPr/>
        </p:nvSpPr>
        <p:spPr>
          <a:xfrm>
            <a:off x="548640" y="6537960"/>
            <a:ext cx="5486400" cy="274320"/>
          </a:xfrm>
          <a:prstGeom prst="rect">
            <a:avLst/>
          </a:prstGeom>
          <a:noFill/>
          <a:ln/>
        </p:spPr>
        <p:txBody>
          <a:bodyPr wrap="square" lIns="0" tIns="0" rIns="0" bIns="0" rtlCol="0" anchor="ctr"/>
          <a:lstStyle/>
          <a:p>
            <a:pPr marL="0" indent="0">
              <a:buNone/>
            </a:pPr>
            <a:r>
              <a:rPr lang="es-CL" sz="1000" noProof="0" dirty="0" err="1">
                <a:solidFill>
                  <a:srgbClr val="5C7A7D"/>
                </a:solidFill>
                <a:latin typeface="Calibri" pitchFamily="34" charset="0"/>
                <a:ea typeface="Calibri" pitchFamily="34" charset="-122"/>
                <a:cs typeface="Calibri" pitchFamily="34" charset="-120"/>
              </a:rPr>
              <a:t>KineTrack</a:t>
            </a:r>
            <a:r>
              <a:rPr lang="es-CL" sz="1000" noProof="0" dirty="0">
                <a:solidFill>
                  <a:srgbClr val="5C7A7D"/>
                </a:solidFill>
                <a:latin typeface="Calibri" pitchFamily="34" charset="0"/>
                <a:ea typeface="Calibri" pitchFamily="34" charset="-122"/>
                <a:cs typeface="Calibri" pitchFamily="34" charset="-120"/>
              </a:rPr>
              <a:t> — Proyecto APT</a:t>
            </a:r>
            <a:endParaRPr lang="es-CL" sz="1000" noProof="0" dirty="0"/>
          </a:p>
        </p:txBody>
      </p:sp>
      <p:sp>
        <p:nvSpPr>
          <p:cNvPr id="6" name="Text 4"/>
          <p:cNvSpPr txBox="1"/>
          <p:nvPr/>
        </p:nvSpPr>
        <p:spPr>
          <a:xfrm>
            <a:off x="11338560" y="6537960"/>
            <a:ext cx="457200" cy="274320"/>
          </a:xfrm>
          <a:prstGeom prst="rect">
            <a:avLst/>
          </a:prstGeom>
          <a:noFill/>
          <a:ln/>
        </p:spPr>
        <p:txBody>
          <a:bodyPr wrap="square" lIns="0" tIns="0" rIns="0" bIns="0" rtlCol="0" anchor="ctr"/>
          <a:lstStyle/>
          <a:p>
            <a:pPr marL="0" indent="0" algn="r">
              <a:buNone/>
            </a:pPr>
            <a:r>
              <a:rPr lang="es-CL" sz="1000" noProof="0" dirty="0">
                <a:solidFill>
                  <a:srgbClr val="5C7A7D"/>
                </a:solidFill>
                <a:latin typeface="Calibri" pitchFamily="34" charset="0"/>
                <a:ea typeface="Calibri" pitchFamily="34" charset="-122"/>
                <a:cs typeface="Calibri" pitchFamily="34" charset="-120"/>
              </a:rPr>
              <a:t>12</a:t>
            </a:r>
            <a:endParaRPr lang="es-CL" sz="1000" noProof="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4F52"/>
        </a:solidFill>
        <a:effectLst/>
      </p:bgPr>
    </p:bg>
    <p:spTree>
      <p:nvGrpSpPr>
        <p:cNvPr id="1" name=""/>
        <p:cNvGrpSpPr/>
        <p:nvPr/>
      </p:nvGrpSpPr>
      <p:grpSpPr>
        <a:xfrm>
          <a:off x="0" y="0"/>
          <a:ext cx="0" cy="0"/>
          <a:chOff x="0" y="0"/>
          <a:chExt cx="0" cy="0"/>
        </a:xfrm>
      </p:grpSpPr>
      <p:sp>
        <p:nvSpPr>
          <p:cNvPr id="2" name="Shape 0">
            <a:extLst>
              <a:ext uri="{C183D7F6-B498-43B3-948B-1728B52AA6E4}">
                <adec:decorative xmlns:adec="http://schemas.microsoft.com/office/drawing/2017/decorative" val="1"/>
              </a:ext>
            </a:extLst>
          </p:cNvPr>
          <p:cNvSpPr/>
          <p:nvPr/>
        </p:nvSpPr>
        <p:spPr>
          <a:xfrm>
            <a:off x="9144000" y="-1828800"/>
            <a:ext cx="5486400" cy="5486400"/>
          </a:xfrm>
          <a:prstGeom prst="ellipse">
            <a:avLst/>
          </a:prstGeom>
          <a:solidFill>
            <a:srgbClr val="0F6D7A">
              <a:alpha val="55000"/>
            </a:srgbClr>
          </a:solidFill>
          <a:ln/>
        </p:spPr>
        <p:txBody>
          <a:bodyPr/>
          <a:lstStyle/>
          <a:p>
            <a:endParaRPr lang="es-CL" noProof="0" dirty="0"/>
          </a:p>
        </p:txBody>
      </p:sp>
      <p:sp>
        <p:nvSpPr>
          <p:cNvPr id="3" name="Text 1"/>
          <p:cNvSpPr txBox="1"/>
          <p:nvPr/>
        </p:nvSpPr>
        <p:spPr>
          <a:xfrm>
            <a:off x="548640" y="2057400"/>
            <a:ext cx="11064240" cy="914400"/>
          </a:xfrm>
          <a:prstGeom prst="rect">
            <a:avLst/>
          </a:prstGeom>
          <a:noFill/>
          <a:ln/>
        </p:spPr>
        <p:txBody>
          <a:bodyPr wrap="square" lIns="0" tIns="0" rIns="0" bIns="0" rtlCol="0" anchor="ctr"/>
          <a:lstStyle/>
          <a:p>
            <a:pPr marL="0" indent="0" algn="ctr">
              <a:buNone/>
            </a:pPr>
            <a:r>
              <a:rPr lang="es-CL" sz="4400" b="1" noProof="0" dirty="0">
                <a:solidFill>
                  <a:srgbClr val="FFFFFF"/>
                </a:solidFill>
                <a:latin typeface="Bookman Old Style" panose="02050604050505020204" pitchFamily="18" charset="0"/>
                <a:ea typeface="Calibri" pitchFamily="34" charset="-122"/>
                <a:cs typeface="Calibri" pitchFamily="34" charset="-120"/>
              </a:rPr>
              <a:t>Muchas Gracias</a:t>
            </a:r>
            <a:endParaRPr lang="es-CL" sz="3200" noProof="0" dirty="0">
              <a:latin typeface="Bookman Old Style" panose="02050604050505020204" pitchFamily="18" charset="0"/>
            </a:endParaRPr>
          </a:p>
        </p:txBody>
      </p:sp>
      <p:sp>
        <p:nvSpPr>
          <p:cNvPr id="4" name="Text 2"/>
          <p:cNvSpPr txBox="1"/>
          <p:nvPr/>
        </p:nvSpPr>
        <p:spPr>
          <a:xfrm>
            <a:off x="548640" y="2971800"/>
            <a:ext cx="11064240" cy="822960"/>
          </a:xfrm>
          <a:prstGeom prst="rect">
            <a:avLst/>
          </a:prstGeom>
          <a:noFill/>
          <a:ln/>
        </p:spPr>
        <p:txBody>
          <a:bodyPr wrap="square" lIns="0" tIns="0" rIns="0" bIns="0" rtlCol="0" anchor="ctr"/>
          <a:lstStyle/>
          <a:p>
            <a:pPr marL="0" indent="0" algn="ctr">
              <a:buNone/>
            </a:pPr>
            <a:r>
              <a:rPr lang="es-CL" sz="4000" noProof="0" dirty="0">
                <a:solidFill>
                  <a:srgbClr val="E8785A"/>
                </a:solidFill>
                <a:latin typeface="Bookman Old Style" panose="02050604050505020204" pitchFamily="18" charset="0"/>
                <a:ea typeface="Calibri" pitchFamily="34" charset="-122"/>
                <a:cs typeface="Calibri" pitchFamily="34" charset="-120"/>
              </a:rPr>
              <a:t>¿Comentarios?</a:t>
            </a:r>
            <a:endParaRPr lang="es-CL" sz="4000" noProof="0" dirty="0">
              <a:latin typeface="Bookman Old Style" panose="02050604050505020204" pitchFamily="18" charset="0"/>
            </a:endParaRPr>
          </a:p>
        </p:txBody>
      </p:sp>
      <p:sp>
        <p:nvSpPr>
          <p:cNvPr id="6" name="Text 4"/>
          <p:cNvSpPr txBox="1"/>
          <p:nvPr/>
        </p:nvSpPr>
        <p:spPr>
          <a:xfrm>
            <a:off x="11338560" y="6537960"/>
            <a:ext cx="457200" cy="274320"/>
          </a:xfrm>
          <a:prstGeom prst="rect">
            <a:avLst/>
          </a:prstGeom>
          <a:noFill/>
          <a:ln/>
        </p:spPr>
        <p:txBody>
          <a:bodyPr wrap="square" lIns="0" tIns="0" rIns="0" bIns="0" rtlCol="0" anchor="ctr"/>
          <a:lstStyle/>
          <a:p>
            <a:pPr marL="0" indent="0" algn="r">
              <a:buNone/>
            </a:pPr>
            <a:r>
              <a:rPr lang="es-CL" sz="1000" noProof="0" dirty="0">
                <a:solidFill>
                  <a:srgbClr val="5C7A7D"/>
                </a:solidFill>
                <a:latin typeface="Calibri" pitchFamily="34" charset="0"/>
                <a:ea typeface="Calibri" pitchFamily="34" charset="-122"/>
                <a:cs typeface="Calibri" pitchFamily="34" charset="-120"/>
              </a:rPr>
              <a:t>13</a:t>
            </a:r>
            <a:endParaRPr lang="es-CL" sz="1000" noProof="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TotalTime>
  <Words>934</Words>
  <Application>Microsoft Office PowerPoint</Application>
  <PresentationFormat>Panorámica</PresentationFormat>
  <Paragraphs>113</Paragraphs>
  <Slides>12</Slides>
  <Notes>11</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12</vt:i4>
      </vt:variant>
    </vt:vector>
  </HeadingPairs>
  <TitlesOfParts>
    <vt:vector size="17" baseType="lpstr">
      <vt:lpstr>Arial</vt:lpstr>
      <vt:lpstr>Bookman Old Style</vt:lpstr>
      <vt:lpstr>Calibri</vt:lpstr>
      <vt:lpstr>Cambria</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BENJAMIN NICOLAS CONTRERAS RODRIGUEZ</cp:lastModifiedBy>
  <cp:revision>3</cp:revision>
  <dcterms:created xsi:type="dcterms:W3CDTF">2026-09-10T04:45:51Z</dcterms:created>
  <dcterms:modified xsi:type="dcterms:W3CDTF">2026-09-10T05:23:21Z</dcterms:modified>
</cp:coreProperties>
</file>